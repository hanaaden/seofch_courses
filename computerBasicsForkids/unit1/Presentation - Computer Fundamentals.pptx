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e Vietnam" charset="1" panose="00000500000000000000"/>
      <p:regular r:id="rId19"/>
    </p:embeddedFont>
    <p:embeddedFont>
      <p:font typeface="Roca Two Bold" charset="1" panose="00000800000000000000"/>
      <p:regular r:id="rId20"/>
    </p:embeddedFont>
    <p:embeddedFont>
      <p:font typeface="Roca Two" charset="1" panose="00000500000000000000"/>
      <p:regular r:id="rId21"/>
    </p:embeddedFont>
    <p:embeddedFont>
      <p:font typeface="Be Vietnam Ultra-Bold" charset="1" panose="000009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666750"/>
            <a:ext cx="7191375" cy="8953500"/>
            <a:chOff x="0" y="0"/>
            <a:chExt cx="1274296" cy="1586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4296" cy="1586541"/>
            </a:xfrm>
            <a:custGeom>
              <a:avLst/>
              <a:gdLst/>
              <a:ahLst/>
              <a:cxnLst/>
              <a:rect r="r" b="b" t="t" l="l"/>
              <a:pathLst>
                <a:path h="1586541" w="1274296">
                  <a:moveTo>
                    <a:pt x="29067" y="0"/>
                  </a:moveTo>
                  <a:lnTo>
                    <a:pt x="1245229" y="0"/>
                  </a:lnTo>
                  <a:cubicBezTo>
                    <a:pt x="1261283" y="0"/>
                    <a:pt x="1274296" y="13014"/>
                    <a:pt x="1274296" y="29067"/>
                  </a:cubicBezTo>
                  <a:lnTo>
                    <a:pt x="1274296" y="1557474"/>
                  </a:lnTo>
                  <a:cubicBezTo>
                    <a:pt x="1274296" y="1565183"/>
                    <a:pt x="1271234" y="1572576"/>
                    <a:pt x="1265783" y="1578028"/>
                  </a:cubicBezTo>
                  <a:cubicBezTo>
                    <a:pt x="1260332" y="1583479"/>
                    <a:pt x="1252938" y="1586541"/>
                    <a:pt x="1245229" y="1586541"/>
                  </a:cubicBezTo>
                  <a:lnTo>
                    <a:pt x="29067" y="1586541"/>
                  </a:lnTo>
                  <a:cubicBezTo>
                    <a:pt x="21358" y="1586541"/>
                    <a:pt x="13965" y="1583479"/>
                    <a:pt x="8514" y="1578028"/>
                  </a:cubicBezTo>
                  <a:cubicBezTo>
                    <a:pt x="3062" y="1572576"/>
                    <a:pt x="0" y="1565183"/>
                    <a:pt x="0" y="1557474"/>
                  </a:cubicBezTo>
                  <a:lnTo>
                    <a:pt x="0" y="29067"/>
                  </a:lnTo>
                  <a:cubicBezTo>
                    <a:pt x="0" y="21358"/>
                    <a:pt x="3062" y="13965"/>
                    <a:pt x="8514" y="8514"/>
                  </a:cubicBezTo>
                  <a:cubicBezTo>
                    <a:pt x="13965" y="3062"/>
                    <a:pt x="21358" y="0"/>
                    <a:pt x="2906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138920"/>
            <a:ext cx="83248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333333"/>
                </a:solidFill>
                <a:latin typeface="Be Vietnam"/>
                <a:ea typeface="Be Vietnam"/>
                <a:cs typeface="Be Vietnam"/>
                <a:sym typeface="Be Vietnam"/>
              </a:rPr>
              <a:t>PRESENTED BY [YOUR NAME HERE]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19125"/>
            <a:ext cx="8324850" cy="47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2803">
                <a:solidFill>
                  <a:srgbClr val="333333"/>
                </a:solidFill>
                <a:latin typeface="Roca Two Bold"/>
                <a:ea typeface="Roca Two Bold"/>
                <a:cs typeface="Roca Two Bold"/>
                <a:sym typeface="Roca Two Bold"/>
              </a:rPr>
              <a:t>COMPUTER FUN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3344202"/>
            <a:ext cx="8324850" cy="3305551"/>
            <a:chOff x="0" y="0"/>
            <a:chExt cx="11099800" cy="440740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80975"/>
              <a:ext cx="11099800" cy="342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675"/>
                </a:lnSpc>
              </a:pPr>
              <a:r>
                <a:rPr lang="en-US" sz="9675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Computer Fundamentals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4309308" y="3695688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194079" y="3695688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82660" y="3695688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96400" y="685800"/>
            <a:ext cx="8324850" cy="0"/>
          </a:xfrm>
          <a:prstGeom prst="line">
            <a:avLst/>
          </a:prstGeom>
          <a:ln cap="flat" w="28575">
            <a:solidFill>
              <a:srgbClr val="6FA8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17858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6" y="0"/>
                </a:lnTo>
                <a:lnTo>
                  <a:pt x="1550986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333333"/>
                </a:solidFill>
                <a:latin typeface="Roca Two"/>
                <a:ea typeface="Roca Two"/>
                <a:cs typeface="Roca Two"/>
                <a:sym typeface="Roca Two"/>
              </a:rPr>
              <a:t>What is a Computer?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17194" y="3704977"/>
            <a:ext cx="13574451" cy="2877047"/>
            <a:chOff x="0" y="0"/>
            <a:chExt cx="18099268" cy="38360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8099268" cy="912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95"/>
                </a:lnSpc>
                <a:spcBef>
                  <a:spcPct val="0"/>
                </a:spcBef>
              </a:pPr>
              <a:r>
                <a:rPr lang="en-US" b="true" sz="4139" spc="41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It's a smart machine that helps us do many things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411225"/>
              <a:ext cx="18099268" cy="2424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67"/>
                </a:lnSpc>
              </a:pPr>
              <a:r>
                <a:rPr lang="en-US" sz="3548" spc="70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 computer is like a </a:t>
              </a:r>
              <a:r>
                <a:rPr lang="en-US" b="true" sz="3548" spc="70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magic helper</a:t>
              </a:r>
              <a:r>
                <a:rPr lang="en-US" sz="3548" spc="70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that listens to your commands. It helps us play games, watch videos, and even draw pictures!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6750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352786"/>
            <a:ext cx="14077950" cy="4496719"/>
            <a:chOff x="0" y="0"/>
            <a:chExt cx="18770600" cy="59956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8770600" cy="438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640"/>
                </a:lnSpc>
              </a:pPr>
              <a:r>
                <a:rPr lang="en-US" sz="7200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"Computers are our magical assistants, turning dreams into reality with just a command."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692650" y="5372902"/>
              <a:ext cx="938530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28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– Unknown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34225" y="1562100"/>
            <a:ext cx="1019550" cy="895350"/>
          </a:xfrm>
          <a:custGeom>
            <a:avLst/>
            <a:gdLst/>
            <a:ahLst/>
            <a:cxnLst/>
            <a:rect r="r" b="b" t="t" l="l"/>
            <a:pathLst>
              <a:path h="895350" w="1019550">
                <a:moveTo>
                  <a:pt x="0" y="0"/>
                </a:moveTo>
                <a:lnTo>
                  <a:pt x="1019550" y="0"/>
                </a:lnTo>
                <a:lnTo>
                  <a:pt x="10195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7080782" cy="7500216"/>
            <a:chOff x="0" y="0"/>
            <a:chExt cx="22774376" cy="1000028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What Can Computers Do?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31845"/>
              <a:ext cx="22774376" cy="6668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87"/>
                </a:lnSpc>
                <a:spcBef>
                  <a:spcPct val="0"/>
                </a:spcBef>
              </a:pPr>
            </a:p>
            <a:p>
              <a:pPr algn="l" marL="769201" indent="-384600" lvl="1">
                <a:lnSpc>
                  <a:spcPts val="49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562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Work very fast</a:t>
              </a:r>
            </a:p>
            <a:p>
              <a:pPr algn="l" marL="769201" indent="-384600" lvl="1">
                <a:lnSpc>
                  <a:spcPts val="49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562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Store information</a:t>
              </a:r>
            </a:p>
            <a:p>
              <a:pPr algn="l" marL="769201" indent="-384600" lvl="1">
                <a:lnSpc>
                  <a:spcPts val="49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562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Help us learn</a:t>
              </a:r>
            </a:p>
            <a:p>
              <a:pPr algn="l" marL="769201" indent="-384600" lvl="1">
                <a:lnSpc>
                  <a:spcPts val="49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562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Draw and create pictures</a:t>
              </a:r>
            </a:p>
            <a:p>
              <a:pPr algn="l" marL="769201" indent="-384600" lvl="1">
                <a:lnSpc>
                  <a:spcPts val="49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562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Play games and music</a:t>
              </a:r>
            </a:p>
            <a:p>
              <a:pPr algn="l" marL="769201" indent="-384600" lvl="1">
                <a:lnSpc>
                  <a:spcPts val="49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562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Help people communicate</a:t>
              </a:r>
            </a:p>
            <a:p>
              <a:pPr algn="l" marL="0" indent="0" lvl="0">
                <a:lnSpc>
                  <a:spcPts val="498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2686050"/>
            <a:chOff x="0" y="0"/>
            <a:chExt cx="1108711" cy="742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11" cy="742652"/>
            </a:xfrm>
            <a:custGeom>
              <a:avLst/>
              <a:gdLst/>
              <a:ahLst/>
              <a:cxnLst/>
              <a:rect r="r" b="b" t="t" l="l"/>
              <a:pathLst>
                <a:path h="742652" w="1108711">
                  <a:moveTo>
                    <a:pt x="57919" y="0"/>
                  </a:moveTo>
                  <a:lnTo>
                    <a:pt x="1050791" y="0"/>
                  </a:lnTo>
                  <a:cubicBezTo>
                    <a:pt x="1066152" y="0"/>
                    <a:pt x="1080884" y="6102"/>
                    <a:pt x="1091746" y="16964"/>
                  </a:cubicBezTo>
                  <a:cubicBezTo>
                    <a:pt x="1102608" y="27826"/>
                    <a:pt x="1108711" y="42558"/>
                    <a:pt x="1108711" y="57919"/>
                  </a:cubicBezTo>
                  <a:lnTo>
                    <a:pt x="1108711" y="684732"/>
                  </a:lnTo>
                  <a:cubicBezTo>
                    <a:pt x="1108711" y="700094"/>
                    <a:pt x="1102608" y="714826"/>
                    <a:pt x="1091746" y="725688"/>
                  </a:cubicBezTo>
                  <a:cubicBezTo>
                    <a:pt x="1080884" y="736550"/>
                    <a:pt x="1066152" y="742652"/>
                    <a:pt x="1050791" y="742652"/>
                  </a:cubicBezTo>
                  <a:lnTo>
                    <a:pt x="57919" y="742652"/>
                  </a:lnTo>
                  <a:cubicBezTo>
                    <a:pt x="42558" y="742652"/>
                    <a:pt x="27826" y="736550"/>
                    <a:pt x="16964" y="725688"/>
                  </a:cubicBezTo>
                  <a:cubicBezTo>
                    <a:pt x="6102" y="714826"/>
                    <a:pt x="0" y="700094"/>
                    <a:pt x="0" y="684732"/>
                  </a:cubicBezTo>
                  <a:lnTo>
                    <a:pt x="0" y="57919"/>
                  </a:lnTo>
                  <a:cubicBezTo>
                    <a:pt x="0" y="42558"/>
                    <a:pt x="6102" y="27826"/>
                    <a:pt x="16964" y="16964"/>
                  </a:cubicBezTo>
                  <a:cubicBezTo>
                    <a:pt x="27826" y="6102"/>
                    <a:pt x="42558" y="0"/>
                    <a:pt x="5791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t="0" r="-1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962923"/>
            <a:ext cx="4010025" cy="2657327"/>
            <a:chOff x="0" y="0"/>
            <a:chExt cx="1108711" cy="734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8711" cy="734710"/>
            </a:xfrm>
            <a:custGeom>
              <a:avLst/>
              <a:gdLst/>
              <a:ahLst/>
              <a:cxnLst/>
              <a:rect r="r" b="b" t="t" l="l"/>
              <a:pathLst>
                <a:path h="734710" w="1108711">
                  <a:moveTo>
                    <a:pt x="57919" y="0"/>
                  </a:moveTo>
                  <a:lnTo>
                    <a:pt x="1050791" y="0"/>
                  </a:lnTo>
                  <a:cubicBezTo>
                    <a:pt x="1066152" y="0"/>
                    <a:pt x="1080884" y="6102"/>
                    <a:pt x="1091746" y="16964"/>
                  </a:cubicBezTo>
                  <a:cubicBezTo>
                    <a:pt x="1102608" y="27826"/>
                    <a:pt x="1108711" y="42558"/>
                    <a:pt x="1108711" y="57919"/>
                  </a:cubicBezTo>
                  <a:lnTo>
                    <a:pt x="1108711" y="676791"/>
                  </a:lnTo>
                  <a:cubicBezTo>
                    <a:pt x="1108711" y="708779"/>
                    <a:pt x="1082779" y="734710"/>
                    <a:pt x="1050791" y="734710"/>
                  </a:cubicBezTo>
                  <a:lnTo>
                    <a:pt x="57919" y="734710"/>
                  </a:lnTo>
                  <a:cubicBezTo>
                    <a:pt x="42558" y="734710"/>
                    <a:pt x="27826" y="728608"/>
                    <a:pt x="16964" y="717746"/>
                  </a:cubicBezTo>
                  <a:cubicBezTo>
                    <a:pt x="6102" y="706884"/>
                    <a:pt x="0" y="692152"/>
                    <a:pt x="0" y="676791"/>
                  </a:cubicBezTo>
                  <a:lnTo>
                    <a:pt x="0" y="57919"/>
                  </a:lnTo>
                  <a:cubicBezTo>
                    <a:pt x="0" y="42558"/>
                    <a:pt x="6102" y="27826"/>
                    <a:pt x="16964" y="16964"/>
                  </a:cubicBezTo>
                  <a:cubicBezTo>
                    <a:pt x="27826" y="6102"/>
                    <a:pt x="42558" y="0"/>
                    <a:pt x="57919" y="0"/>
                  </a:cubicBezTo>
                  <a:close/>
                </a:path>
              </a:pathLst>
            </a:custGeom>
            <a:blipFill>
              <a:blip r:embed="rId3"/>
              <a:stretch>
                <a:fillRect l="-489" t="0" r="-48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3352800"/>
            <a:ext cx="4010025" cy="2686050"/>
            <a:chOff x="0" y="0"/>
            <a:chExt cx="1108711" cy="742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8711" cy="742652"/>
            </a:xfrm>
            <a:custGeom>
              <a:avLst/>
              <a:gdLst/>
              <a:ahLst/>
              <a:cxnLst/>
              <a:rect r="r" b="b" t="t" l="l"/>
              <a:pathLst>
                <a:path h="742652" w="1108711">
                  <a:moveTo>
                    <a:pt x="57919" y="0"/>
                  </a:moveTo>
                  <a:lnTo>
                    <a:pt x="1050791" y="0"/>
                  </a:lnTo>
                  <a:cubicBezTo>
                    <a:pt x="1066152" y="0"/>
                    <a:pt x="1080884" y="6102"/>
                    <a:pt x="1091746" y="16964"/>
                  </a:cubicBezTo>
                  <a:cubicBezTo>
                    <a:pt x="1102608" y="27826"/>
                    <a:pt x="1108711" y="42558"/>
                    <a:pt x="1108711" y="57919"/>
                  </a:cubicBezTo>
                  <a:lnTo>
                    <a:pt x="1108711" y="684732"/>
                  </a:lnTo>
                  <a:cubicBezTo>
                    <a:pt x="1108711" y="700094"/>
                    <a:pt x="1102608" y="714826"/>
                    <a:pt x="1091746" y="725688"/>
                  </a:cubicBezTo>
                  <a:cubicBezTo>
                    <a:pt x="1080884" y="736550"/>
                    <a:pt x="1066152" y="742652"/>
                    <a:pt x="1050791" y="742652"/>
                  </a:cubicBezTo>
                  <a:lnTo>
                    <a:pt x="57919" y="742652"/>
                  </a:lnTo>
                  <a:cubicBezTo>
                    <a:pt x="42558" y="742652"/>
                    <a:pt x="27826" y="736550"/>
                    <a:pt x="16964" y="725688"/>
                  </a:cubicBezTo>
                  <a:cubicBezTo>
                    <a:pt x="6102" y="714826"/>
                    <a:pt x="0" y="700094"/>
                    <a:pt x="0" y="684732"/>
                  </a:cubicBezTo>
                  <a:lnTo>
                    <a:pt x="0" y="57919"/>
                  </a:lnTo>
                  <a:cubicBezTo>
                    <a:pt x="0" y="42558"/>
                    <a:pt x="6102" y="27826"/>
                    <a:pt x="16964" y="16964"/>
                  </a:cubicBezTo>
                  <a:cubicBezTo>
                    <a:pt x="27826" y="6102"/>
                    <a:pt x="42558" y="0"/>
                    <a:pt x="57919" y="0"/>
                  </a:cubicBezTo>
                  <a:close/>
                </a:path>
              </a:pathLst>
            </a:custGeom>
            <a:blipFill>
              <a:blip r:embed="rId4"/>
              <a:stretch>
                <a:fillRect l="-174" t="0" r="-17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934200"/>
            <a:ext cx="4010025" cy="2657327"/>
            <a:chOff x="0" y="0"/>
            <a:chExt cx="1108711" cy="7347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8711" cy="734710"/>
            </a:xfrm>
            <a:custGeom>
              <a:avLst/>
              <a:gdLst/>
              <a:ahLst/>
              <a:cxnLst/>
              <a:rect r="r" b="b" t="t" l="l"/>
              <a:pathLst>
                <a:path h="734710" w="1108711">
                  <a:moveTo>
                    <a:pt x="57919" y="0"/>
                  </a:moveTo>
                  <a:lnTo>
                    <a:pt x="1050791" y="0"/>
                  </a:lnTo>
                  <a:cubicBezTo>
                    <a:pt x="1066152" y="0"/>
                    <a:pt x="1080884" y="6102"/>
                    <a:pt x="1091746" y="16964"/>
                  </a:cubicBezTo>
                  <a:cubicBezTo>
                    <a:pt x="1102608" y="27826"/>
                    <a:pt x="1108711" y="42558"/>
                    <a:pt x="1108711" y="57919"/>
                  </a:cubicBezTo>
                  <a:lnTo>
                    <a:pt x="1108711" y="676791"/>
                  </a:lnTo>
                  <a:cubicBezTo>
                    <a:pt x="1108711" y="708779"/>
                    <a:pt x="1082779" y="734710"/>
                    <a:pt x="1050791" y="734710"/>
                  </a:cubicBezTo>
                  <a:lnTo>
                    <a:pt x="57919" y="734710"/>
                  </a:lnTo>
                  <a:cubicBezTo>
                    <a:pt x="42558" y="734710"/>
                    <a:pt x="27826" y="728608"/>
                    <a:pt x="16964" y="717746"/>
                  </a:cubicBezTo>
                  <a:cubicBezTo>
                    <a:pt x="6102" y="706884"/>
                    <a:pt x="0" y="692152"/>
                    <a:pt x="0" y="676791"/>
                  </a:cubicBezTo>
                  <a:lnTo>
                    <a:pt x="0" y="57919"/>
                  </a:lnTo>
                  <a:cubicBezTo>
                    <a:pt x="0" y="42558"/>
                    <a:pt x="6102" y="27826"/>
                    <a:pt x="16964" y="16964"/>
                  </a:cubicBezTo>
                  <a:cubicBezTo>
                    <a:pt x="27826" y="6102"/>
                    <a:pt x="42558" y="0"/>
                    <a:pt x="57919" y="0"/>
                  </a:cubicBezTo>
                  <a:close/>
                </a:path>
              </a:pathLst>
            </a:custGeom>
            <a:blipFill>
              <a:blip r:embed="rId5"/>
              <a:stretch>
                <a:fillRect l="-489" t="0" r="-489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 flipV="true">
            <a:off x="666750" y="2471737"/>
            <a:ext cx="16954500" cy="0"/>
          </a:xfrm>
          <a:prstGeom prst="line">
            <a:avLst/>
          </a:prstGeom>
          <a:ln cap="flat" w="28575">
            <a:solidFill>
              <a:srgbClr val="6FA8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981575" y="3352800"/>
            <a:ext cx="4161057" cy="2193420"/>
            <a:chOff x="0" y="0"/>
            <a:chExt cx="5548076" cy="29245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4301988" cy="550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8"/>
                </a:lnSpc>
              </a:pPr>
              <a:r>
                <a:rPr lang="en-US" b="true" sz="2491" spc="24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Play Games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81358"/>
              <a:ext cx="5548076" cy="2143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07"/>
                </a:lnSpc>
              </a:pPr>
              <a:r>
                <a:rPr lang="en-US" sz="2754" spc="55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Computers let you enjoy fun and exciting games.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1225" y="3352800"/>
            <a:ext cx="5651741" cy="2194067"/>
            <a:chOff x="0" y="0"/>
            <a:chExt cx="7535654" cy="292542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7535654" cy="654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3"/>
                </a:lnSpc>
              </a:pPr>
              <a:r>
                <a:rPr lang="en-US" b="true" sz="2959" spc="29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Watch Cartoons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61473"/>
              <a:ext cx="5119164" cy="1963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536" spc="50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Enjoy your favorite cartoons with friends and family.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1225" y="6934200"/>
            <a:ext cx="5974512" cy="2319370"/>
            <a:chOff x="0" y="0"/>
            <a:chExt cx="7966017" cy="309249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57150"/>
              <a:ext cx="7966017" cy="689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80"/>
                </a:lnSpc>
              </a:pPr>
              <a:r>
                <a:rPr lang="en-US" b="true" sz="3128" spc="31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Talk to Friends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031348"/>
              <a:ext cx="4936895" cy="2061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90"/>
                </a:lnSpc>
              </a:pPr>
              <a:r>
                <a:rPr lang="en-US" sz="2681" spc="53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Connect with friends and share fun moments online.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81575" y="7061832"/>
            <a:ext cx="3555076" cy="2846411"/>
            <a:chOff x="0" y="0"/>
            <a:chExt cx="4740101" cy="379521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4740101" cy="611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3"/>
                </a:lnSpc>
              </a:pPr>
              <a:r>
                <a:rPr lang="en-US" b="true" sz="2745" spc="2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Help with Homework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17533"/>
              <a:ext cx="4108347" cy="2877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00"/>
                </a:lnSpc>
              </a:pPr>
              <a:r>
                <a:rPr lang="en-US" sz="2750" spc="55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Computers make learning fun and help with schoolwork.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66750" y="800100"/>
            <a:ext cx="16954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sz="7200">
                <a:solidFill>
                  <a:srgbClr val="EF7A85"/>
                </a:solidFill>
                <a:latin typeface="Roca Two"/>
                <a:ea typeface="Roca Two"/>
                <a:cs typeface="Roca Two"/>
                <a:sym typeface="Roca Two"/>
              </a:rPr>
              <a:t>Fun things computers can do!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8108313" cy="8058029"/>
            <a:chOff x="0" y="0"/>
            <a:chExt cx="24144417" cy="107440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155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Types of Computers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06270"/>
              <a:ext cx="24144417" cy="8837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b="true" sz="3777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Discover the different kinds of computers!</a:t>
              </a:r>
            </a:p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b="true" sz="3777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Types of Computers</a:t>
              </a:r>
            </a:p>
            <a:p>
              <a:pPr algn="l" marL="815474" indent="-407737" lvl="1">
                <a:lnSpc>
                  <a:spcPts val="52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777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Desktop Computer – used on a desk</a:t>
              </a:r>
            </a:p>
            <a:p>
              <a:pPr algn="l" marL="815474" indent="-407737" lvl="1">
                <a:lnSpc>
                  <a:spcPts val="52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777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Laptop – easy to carry</a:t>
              </a:r>
            </a:p>
            <a:p>
              <a:pPr algn="l" marL="815474" indent="-407737" lvl="1">
                <a:lnSpc>
                  <a:spcPts val="52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777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Tablet – touch screen computer</a:t>
              </a:r>
            </a:p>
            <a:p>
              <a:pPr algn="l" marL="815474" indent="-407737" lvl="1">
                <a:lnSpc>
                  <a:spcPts val="52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777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Smartphone – small computer we use every day</a:t>
              </a:r>
            </a:p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8324850" cy="4476750"/>
            <a:chOff x="0" y="0"/>
            <a:chExt cx="802163" cy="431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2163" cy="431369"/>
            </a:xfrm>
            <a:custGeom>
              <a:avLst/>
              <a:gdLst/>
              <a:ahLst/>
              <a:cxnLst/>
              <a:rect r="r" b="b" t="t" l="l"/>
              <a:pathLst>
                <a:path h="431369" w="802163">
                  <a:moveTo>
                    <a:pt x="27899" y="0"/>
                  </a:moveTo>
                  <a:lnTo>
                    <a:pt x="774264" y="0"/>
                  </a:lnTo>
                  <a:cubicBezTo>
                    <a:pt x="789672" y="0"/>
                    <a:pt x="802163" y="12491"/>
                    <a:pt x="802163" y="27899"/>
                  </a:cubicBezTo>
                  <a:lnTo>
                    <a:pt x="802163" y="403470"/>
                  </a:lnTo>
                  <a:cubicBezTo>
                    <a:pt x="802163" y="410869"/>
                    <a:pt x="799224" y="417966"/>
                    <a:pt x="793992" y="423198"/>
                  </a:cubicBezTo>
                  <a:cubicBezTo>
                    <a:pt x="788759" y="428430"/>
                    <a:pt x="781663" y="431369"/>
                    <a:pt x="774264" y="431369"/>
                  </a:cubicBezTo>
                  <a:lnTo>
                    <a:pt x="27899" y="431369"/>
                  </a:lnTo>
                  <a:cubicBezTo>
                    <a:pt x="12491" y="431369"/>
                    <a:pt x="0" y="418878"/>
                    <a:pt x="0" y="403470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blipFill>
              <a:blip r:embed="rId2"/>
              <a:stretch>
                <a:fillRect l="-140" t="0" r="-14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5143500"/>
            <a:ext cx="8324850" cy="4476750"/>
            <a:chOff x="0" y="0"/>
            <a:chExt cx="802163" cy="4313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2163" cy="431369"/>
            </a:xfrm>
            <a:custGeom>
              <a:avLst/>
              <a:gdLst/>
              <a:ahLst/>
              <a:cxnLst/>
              <a:rect r="r" b="b" t="t" l="l"/>
              <a:pathLst>
                <a:path h="431369" w="802163">
                  <a:moveTo>
                    <a:pt x="27899" y="0"/>
                  </a:moveTo>
                  <a:lnTo>
                    <a:pt x="774264" y="0"/>
                  </a:lnTo>
                  <a:cubicBezTo>
                    <a:pt x="789672" y="0"/>
                    <a:pt x="802163" y="12491"/>
                    <a:pt x="802163" y="27899"/>
                  </a:cubicBezTo>
                  <a:lnTo>
                    <a:pt x="802163" y="403470"/>
                  </a:lnTo>
                  <a:cubicBezTo>
                    <a:pt x="802163" y="410869"/>
                    <a:pt x="799224" y="417966"/>
                    <a:pt x="793992" y="423198"/>
                  </a:cubicBezTo>
                  <a:cubicBezTo>
                    <a:pt x="788759" y="428430"/>
                    <a:pt x="781663" y="431369"/>
                    <a:pt x="774264" y="431369"/>
                  </a:cubicBezTo>
                  <a:lnTo>
                    <a:pt x="27899" y="431369"/>
                  </a:lnTo>
                  <a:cubicBezTo>
                    <a:pt x="12491" y="431369"/>
                    <a:pt x="0" y="418878"/>
                    <a:pt x="0" y="403470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blipFill>
              <a:blip r:embed="rId3"/>
              <a:stretch>
                <a:fillRect l="-140" t="0" r="-140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666750" y="2476500"/>
            <a:ext cx="8324850" cy="0"/>
          </a:xfrm>
          <a:prstGeom prst="line">
            <a:avLst/>
          </a:prstGeom>
          <a:ln cap="flat" w="28575">
            <a:solidFill>
              <a:srgbClr val="6FA8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296400" y="2476500"/>
            <a:ext cx="8324850" cy="0"/>
          </a:xfrm>
          <a:prstGeom prst="line">
            <a:avLst/>
          </a:prstGeom>
          <a:ln cap="flat" w="28575">
            <a:solidFill>
              <a:srgbClr val="6FA8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66750" y="3035443"/>
            <a:ext cx="11204095" cy="1126008"/>
            <a:chOff x="0" y="0"/>
            <a:chExt cx="14938793" cy="150134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4938793" cy="628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56"/>
                </a:lnSpc>
              </a:pPr>
              <a:r>
                <a:rPr lang="en-US" b="true" sz="2826" spc="28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Laptop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669"/>
              <a:ext cx="14938793" cy="580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6"/>
                </a:lnSpc>
              </a:pPr>
              <a:r>
                <a:rPr lang="en-US" sz="2422" spc="48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 laptop is a portable computer you can carry easily.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035443"/>
            <a:ext cx="11760311" cy="1181908"/>
            <a:chOff x="0" y="0"/>
            <a:chExt cx="15680414" cy="157587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15680414" cy="656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53"/>
                </a:lnSpc>
              </a:pPr>
              <a:r>
                <a:rPr lang="en-US" b="true" sz="2966" spc="29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Tablet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71103"/>
              <a:ext cx="15680414" cy="604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8"/>
                </a:lnSpc>
              </a:pPr>
              <a:r>
                <a:rPr lang="en-US" sz="2542" spc="50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A tablet is a flat computer you can touch and swipe.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800100"/>
            <a:ext cx="16954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sz="7200">
                <a:solidFill>
                  <a:srgbClr val="EF7A85"/>
                </a:solidFill>
                <a:latin typeface="Roca Two"/>
                <a:ea typeface="Roca Two"/>
                <a:cs typeface="Roca Two"/>
                <a:sym typeface="Roca Two"/>
              </a:rPr>
              <a:t>Discover Different Types of Computers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Basic Parts of a Computer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Discover the simple names of each part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5" y="3753973"/>
            <a:ext cx="9081837" cy="2905226"/>
            <a:chOff x="0" y="0"/>
            <a:chExt cx="12109116" cy="387363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2109116" cy="911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55"/>
                </a:lnSpc>
                <a:spcBef>
                  <a:spcPct val="0"/>
                </a:spcBef>
              </a:pPr>
              <a:r>
                <a:rPr lang="en-US" b="true" sz="4182" spc="41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Shows pictures and words clearly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14683"/>
              <a:ext cx="12109116" cy="2458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19"/>
                </a:lnSpc>
              </a:pPr>
              <a:r>
                <a:rPr lang="en-US" sz="3585" spc="71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The monitor displays vibrant images and colorful words, helping kids explore and learn exciting new things!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00"/>
            <a:ext cx="976312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333333"/>
                </a:solidFill>
                <a:latin typeface="Roca Two"/>
                <a:ea typeface="Roca Two"/>
                <a:cs typeface="Roca Two"/>
                <a:sym typeface="Roca Two"/>
              </a:rPr>
              <a:t>Monitor (screen)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15425" y="3467946"/>
            <a:ext cx="7712170" cy="2628389"/>
            <a:chOff x="0" y="0"/>
            <a:chExt cx="10282893" cy="350451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0282893" cy="821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97"/>
                </a:lnSpc>
                <a:spcBef>
                  <a:spcPct val="0"/>
                </a:spcBef>
              </a:pPr>
              <a:r>
                <a:rPr lang="en-US" b="true" sz="3784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Helps you type and create!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82143"/>
              <a:ext cx="10282893" cy="2222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0"/>
                </a:lnSpc>
              </a:pPr>
              <a:r>
                <a:rPr lang="en-US" sz="3243" spc="64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The keyboard is a </a:t>
              </a:r>
              <a:r>
                <a:rPr lang="en-US" b="true" sz="3243" spc="64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fun tool</a:t>
              </a:r>
              <a:r>
                <a:rPr lang="en-US" sz="3243" spc="64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that helps you type words, play games, and create amazing stories!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00"/>
            <a:ext cx="976312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333333"/>
                </a:solidFill>
                <a:latin typeface="Roca Two"/>
                <a:ea typeface="Roca Two"/>
                <a:cs typeface="Roca Two"/>
                <a:sym typeface="Roca Two"/>
              </a:rPr>
              <a:t>Keyboard Fun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1371" y="3623019"/>
            <a:ext cx="5685259" cy="5217484"/>
          </a:xfrm>
          <a:custGeom>
            <a:avLst/>
            <a:gdLst/>
            <a:ahLst/>
            <a:cxnLst/>
            <a:rect r="r" b="b" t="t" l="l"/>
            <a:pathLst>
              <a:path h="5217484" w="5685259">
                <a:moveTo>
                  <a:pt x="0" y="0"/>
                </a:moveTo>
                <a:lnTo>
                  <a:pt x="5685258" y="0"/>
                </a:lnTo>
                <a:lnTo>
                  <a:pt x="5685258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Switching On and Off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Learn how to use computers safely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B1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96400" y="666750"/>
            <a:ext cx="8324850" cy="0"/>
          </a:xfrm>
          <a:prstGeom prst="line">
            <a:avLst/>
          </a:prstGeom>
          <a:ln cap="flat" w="28575">
            <a:solidFill>
              <a:srgbClr val="6FA8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685800"/>
            <a:ext cx="2571750" cy="2585855"/>
          </a:xfrm>
          <a:custGeom>
            <a:avLst/>
            <a:gdLst/>
            <a:ahLst/>
            <a:cxnLst/>
            <a:rect r="r" b="b" t="t" l="l"/>
            <a:pathLst>
              <a:path h="2585855" w="2571750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499476"/>
            <a:ext cx="16954500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333333"/>
                </a:solidFill>
                <a:latin typeface="Roca Two"/>
                <a:ea typeface="Roca Two"/>
                <a:cs typeface="Roca Two"/>
                <a:sym typeface="Roca Two"/>
              </a:rPr>
              <a:t>How to Use Computers Safely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4578085"/>
            <a:ext cx="6717468" cy="2443511"/>
            <a:chOff x="0" y="0"/>
            <a:chExt cx="8956624" cy="325801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8956624" cy="777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24"/>
                </a:lnSpc>
                <a:spcBef>
                  <a:spcPct val="0"/>
                </a:spcBef>
              </a:pPr>
              <a:r>
                <a:rPr lang="en-US" b="true" sz="3517" spc="35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Switching 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6793"/>
              <a:ext cx="8956624" cy="2061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21"/>
                </a:lnSpc>
                <a:spcBef>
                  <a:spcPct val="0"/>
                </a:spcBef>
              </a:pPr>
              <a:r>
                <a:rPr lang="en-US" sz="3015" spc="60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To switch on a computer, </a:t>
              </a:r>
              <a:r>
                <a:rPr lang="en-US" b="true" sz="3015" spc="60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find the power button</a:t>
              </a:r>
              <a:r>
                <a:rPr lang="en-US" sz="3015" spc="60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and press it gently to start.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56753" y="4213525"/>
            <a:ext cx="7211425" cy="2623190"/>
            <a:chOff x="0" y="0"/>
            <a:chExt cx="9615233" cy="34975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9615233" cy="819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87"/>
                </a:lnSpc>
                <a:spcBef>
                  <a:spcPct val="0"/>
                </a:spcBef>
              </a:pPr>
              <a:r>
                <a:rPr lang="en-US" b="true" sz="3776" spc="37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Switching Off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79475"/>
              <a:ext cx="9615233" cy="2218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31"/>
                </a:lnSpc>
                <a:spcBef>
                  <a:spcPct val="0"/>
                </a:spcBef>
              </a:pPr>
              <a:r>
                <a:rPr lang="en-US" sz="3237" spc="64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To switch off, use the </a:t>
              </a:r>
              <a:r>
                <a:rPr lang="en-US" b="true" sz="3237" spc="64">
                  <a:solidFill>
                    <a:srgbClr val="333333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shutdown button</a:t>
              </a:r>
              <a:r>
                <a:rPr lang="en-US" sz="3237" spc="64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on the screen; never pull the plug.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352786"/>
            <a:ext cx="14077950" cy="5592094"/>
            <a:chOff x="0" y="0"/>
            <a:chExt cx="18770600" cy="74561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8770600" cy="584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640"/>
                </a:lnSpc>
              </a:pPr>
              <a:r>
                <a:rPr lang="en-US" sz="7200">
                  <a:solidFill>
                    <a:srgbClr val="333333"/>
                  </a:solidFill>
                  <a:latin typeface="Roca Two"/>
                  <a:ea typeface="Roca Two"/>
                  <a:cs typeface="Roca Two"/>
                  <a:sym typeface="Roca Two"/>
                </a:rPr>
                <a:t>"Exploring the world of computers opens doors to creativity and endless possibilities!"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692650" y="6833402"/>
              <a:ext cx="938530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28">
                  <a:solidFill>
                    <a:srgbClr val="333333"/>
                  </a:solidFill>
                  <a:latin typeface="Be Vietnam"/>
                  <a:ea typeface="Be Vietnam"/>
                  <a:cs typeface="Be Vietnam"/>
                  <a:sym typeface="Be Vietnam"/>
                </a:rPr>
                <a:t>– Unknown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34225" y="1562100"/>
            <a:ext cx="1019550" cy="895350"/>
          </a:xfrm>
          <a:custGeom>
            <a:avLst/>
            <a:gdLst/>
            <a:ahLst/>
            <a:cxnLst/>
            <a:rect r="r" b="b" t="t" l="l"/>
            <a:pathLst>
              <a:path h="895350" w="1019550">
                <a:moveTo>
                  <a:pt x="0" y="0"/>
                </a:moveTo>
                <a:lnTo>
                  <a:pt x="1019550" y="0"/>
                </a:lnTo>
                <a:lnTo>
                  <a:pt x="10195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Computer Fundamentals</dc:description>
  <dc:identifier>DAG_4EO83ak</dc:identifier>
  <dcterms:modified xsi:type="dcterms:W3CDTF">2011-08-01T06:04:30Z</dcterms:modified>
  <cp:revision>1</cp:revision>
  <dc:title>Presentation - Computer Fundamentals</dc:title>
</cp:coreProperties>
</file>