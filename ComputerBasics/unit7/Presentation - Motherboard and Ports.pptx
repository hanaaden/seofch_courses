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DM Sans" charset="1" panose="00000000000000000000"/>
      <p:regular r:id="rId20"/>
    </p:embeddedFont>
    <p:embeddedFont>
      <p:font typeface="DM Sa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2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25791" y="285750"/>
            <a:ext cx="7126185" cy="9715500"/>
            <a:chOff x="0" y="0"/>
            <a:chExt cx="1072489" cy="14621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2489" cy="1462180"/>
            </a:xfrm>
            <a:custGeom>
              <a:avLst/>
              <a:gdLst/>
              <a:ahLst/>
              <a:cxnLst/>
              <a:rect r="r" b="b" t="t" l="l"/>
              <a:pathLst>
                <a:path h="1462180" w="1072489">
                  <a:moveTo>
                    <a:pt x="32592" y="0"/>
                  </a:moveTo>
                  <a:lnTo>
                    <a:pt x="1039897" y="0"/>
                  </a:lnTo>
                  <a:cubicBezTo>
                    <a:pt x="1057897" y="0"/>
                    <a:pt x="1072489" y="14592"/>
                    <a:pt x="1072489" y="32592"/>
                  </a:cubicBezTo>
                  <a:lnTo>
                    <a:pt x="1072489" y="1429588"/>
                  </a:lnTo>
                  <a:cubicBezTo>
                    <a:pt x="1072489" y="1447588"/>
                    <a:pt x="1057897" y="1462180"/>
                    <a:pt x="1039897" y="1462180"/>
                  </a:cubicBezTo>
                  <a:lnTo>
                    <a:pt x="32592" y="1462180"/>
                  </a:lnTo>
                  <a:cubicBezTo>
                    <a:pt x="23948" y="1462180"/>
                    <a:pt x="15658" y="1458746"/>
                    <a:pt x="9546" y="1452634"/>
                  </a:cubicBezTo>
                  <a:cubicBezTo>
                    <a:pt x="3434" y="1446522"/>
                    <a:pt x="0" y="1438232"/>
                    <a:pt x="0" y="1429588"/>
                  </a:cubicBezTo>
                  <a:lnTo>
                    <a:pt x="0" y="32592"/>
                  </a:lnTo>
                  <a:cubicBezTo>
                    <a:pt x="0" y="14592"/>
                    <a:pt x="14592" y="0"/>
                    <a:pt x="3259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2" r="0" b="-15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3600423"/>
            <a:ext cx="10067925" cy="337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41"/>
              </a:lnSpc>
            </a:pPr>
            <a:r>
              <a:rPr lang="en-US" sz="13041" spc="-391">
                <a:solidFill>
                  <a:srgbClr val="1E0604"/>
                </a:solidFill>
                <a:latin typeface="DM Sans"/>
                <a:ea typeface="DM Sans"/>
                <a:cs typeface="DM Sans"/>
                <a:sym typeface="DM Sans"/>
              </a:rPr>
              <a:t>Motherboard and Ports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65823" y="7783108"/>
            <a:ext cx="2607127" cy="941792"/>
            <a:chOff x="0" y="0"/>
            <a:chExt cx="3476169" cy="12557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452517"/>
              <a:ext cx="2997536" cy="803206"/>
              <a:chOff x="0" y="0"/>
              <a:chExt cx="677333" cy="18149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77333" cy="181495"/>
              </a:xfrm>
              <a:custGeom>
                <a:avLst/>
                <a:gdLst/>
                <a:ahLst/>
                <a:cxnLst/>
                <a:rect r="r" b="b" t="t" l="l"/>
                <a:pathLst>
                  <a:path h="181495" w="677333">
                    <a:moveTo>
                      <a:pt x="90748" y="0"/>
                    </a:moveTo>
                    <a:lnTo>
                      <a:pt x="586586" y="0"/>
                    </a:lnTo>
                    <a:cubicBezTo>
                      <a:pt x="636704" y="0"/>
                      <a:pt x="677333" y="40629"/>
                      <a:pt x="677333" y="90748"/>
                    </a:cubicBezTo>
                    <a:lnTo>
                      <a:pt x="677333" y="90748"/>
                    </a:lnTo>
                    <a:cubicBezTo>
                      <a:pt x="677333" y="114815"/>
                      <a:pt x="667772" y="137897"/>
                      <a:pt x="650754" y="154916"/>
                    </a:cubicBezTo>
                    <a:cubicBezTo>
                      <a:pt x="633736" y="171934"/>
                      <a:pt x="610654" y="181495"/>
                      <a:pt x="586586" y="181495"/>
                    </a:cubicBezTo>
                    <a:lnTo>
                      <a:pt x="90748" y="181495"/>
                    </a:lnTo>
                    <a:cubicBezTo>
                      <a:pt x="66680" y="181495"/>
                      <a:pt x="43598" y="171934"/>
                      <a:pt x="26579" y="154916"/>
                    </a:cubicBezTo>
                    <a:cubicBezTo>
                      <a:pt x="9561" y="137897"/>
                      <a:pt x="0" y="114815"/>
                      <a:pt x="0" y="90748"/>
                    </a:cubicBezTo>
                    <a:lnTo>
                      <a:pt x="0" y="90748"/>
                    </a:lnTo>
                    <a:cubicBezTo>
                      <a:pt x="0" y="66680"/>
                      <a:pt x="9561" y="43598"/>
                      <a:pt x="26579" y="26579"/>
                    </a:cubicBezTo>
                    <a:cubicBezTo>
                      <a:pt x="43598" y="9561"/>
                      <a:pt x="66680" y="0"/>
                      <a:pt x="90748" y="0"/>
                    </a:cubicBezTo>
                    <a:close/>
                  </a:path>
                </a:pathLst>
              </a:custGeom>
              <a:solidFill>
                <a:srgbClr val="57130D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677333" cy="181495"/>
              </a:xfrm>
              <a:prstGeom prst="rect">
                <a:avLst/>
              </a:prstGeom>
            </p:spPr>
            <p:txBody>
              <a:bodyPr anchor="ctr" rtlCol="false" tIns="44408" lIns="44408" bIns="44408" rIns="44408"/>
              <a:lstStyle/>
              <a:p>
                <a:pPr algn="ctr">
                  <a:lnSpc>
                    <a:spcPts val="2879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-2700000">
              <a:off x="2906402" y="95255"/>
              <a:ext cx="468474" cy="480551"/>
            </a:xfrm>
            <a:custGeom>
              <a:avLst/>
              <a:gdLst/>
              <a:ahLst/>
              <a:cxnLst/>
              <a:rect r="r" b="b" t="t" l="l"/>
              <a:pathLst>
                <a:path h="480551" w="468474">
                  <a:moveTo>
                    <a:pt x="0" y="0"/>
                  </a:moveTo>
                  <a:lnTo>
                    <a:pt x="468473" y="0"/>
                  </a:lnTo>
                  <a:lnTo>
                    <a:pt x="468473" y="480551"/>
                  </a:lnTo>
                  <a:lnTo>
                    <a:pt x="0" y="480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97602" y="606470"/>
              <a:ext cx="2602332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Hana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105025" y="9394750"/>
            <a:ext cx="688657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105025" y="476250"/>
            <a:ext cx="688657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4"/>
              </a:lnSpc>
            </a:pPr>
            <a:r>
              <a:rPr lang="en-US" sz="2653">
                <a:solidFill>
                  <a:srgbClr val="1E0604"/>
                </a:solidFill>
                <a:latin typeface="DM Sans"/>
                <a:ea typeface="DM Sans"/>
                <a:cs typeface="DM Sans"/>
                <a:sym typeface="DM Sans"/>
              </a:rPr>
              <a:t>Computer Basics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D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4303470"/>
            <a:ext cx="16954500" cy="173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999"/>
              </a:lnSpc>
            </a:pPr>
            <a:r>
              <a:rPr lang="en-US" sz="12999" spc="-389">
                <a:solidFill>
                  <a:srgbClr val="1E0604"/>
                </a:solidFill>
                <a:latin typeface="DM Sans"/>
                <a:ea typeface="DM Sans"/>
                <a:cs typeface="DM Sans"/>
                <a:sym typeface="DM Sans"/>
              </a:rPr>
              <a:t>motherboard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79800" y="938479"/>
            <a:ext cx="15970139" cy="9734017"/>
            <a:chOff x="0" y="0"/>
            <a:chExt cx="4206127" cy="2563692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206127" cy="2563692"/>
            </a:xfrm>
            <a:custGeom>
              <a:avLst/>
              <a:gdLst/>
              <a:ahLst/>
              <a:cxnLst/>
              <a:rect r="r" b="b" t="t" l="l"/>
              <a:pathLst>
                <a:path h="2563692" w="4206127">
                  <a:moveTo>
                    <a:pt x="14543" y="0"/>
                  </a:moveTo>
                  <a:lnTo>
                    <a:pt x="4191584" y="0"/>
                  </a:lnTo>
                  <a:cubicBezTo>
                    <a:pt x="4199616" y="0"/>
                    <a:pt x="4206127" y="6511"/>
                    <a:pt x="4206127" y="14543"/>
                  </a:cubicBezTo>
                  <a:lnTo>
                    <a:pt x="4206127" y="2549148"/>
                  </a:lnTo>
                  <a:cubicBezTo>
                    <a:pt x="4206127" y="2553005"/>
                    <a:pt x="4204595" y="2556705"/>
                    <a:pt x="4201868" y="2559432"/>
                  </a:cubicBezTo>
                  <a:cubicBezTo>
                    <a:pt x="4199140" y="2562159"/>
                    <a:pt x="4195441" y="2563692"/>
                    <a:pt x="4191584" y="2563692"/>
                  </a:cubicBezTo>
                  <a:lnTo>
                    <a:pt x="14543" y="2563692"/>
                  </a:lnTo>
                  <a:cubicBezTo>
                    <a:pt x="10686" y="2563692"/>
                    <a:pt x="6987" y="2562159"/>
                    <a:pt x="4260" y="2559432"/>
                  </a:cubicBezTo>
                  <a:cubicBezTo>
                    <a:pt x="1532" y="2556705"/>
                    <a:pt x="0" y="2553005"/>
                    <a:pt x="0" y="2549148"/>
                  </a:cubicBezTo>
                  <a:lnTo>
                    <a:pt x="0" y="14543"/>
                  </a:lnTo>
                  <a:cubicBezTo>
                    <a:pt x="0" y="10686"/>
                    <a:pt x="1532" y="6987"/>
                    <a:pt x="4260" y="4260"/>
                  </a:cubicBezTo>
                  <a:cubicBezTo>
                    <a:pt x="6987" y="1532"/>
                    <a:pt x="10686" y="0"/>
                    <a:pt x="1454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206127" cy="2582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74448" y="7829550"/>
            <a:ext cx="2607127" cy="941792"/>
            <a:chOff x="0" y="0"/>
            <a:chExt cx="3476169" cy="12557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452517"/>
              <a:ext cx="2997536" cy="803206"/>
              <a:chOff x="0" y="0"/>
              <a:chExt cx="677333" cy="18149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77333" cy="181495"/>
              </a:xfrm>
              <a:custGeom>
                <a:avLst/>
                <a:gdLst/>
                <a:ahLst/>
                <a:cxnLst/>
                <a:rect r="r" b="b" t="t" l="l"/>
                <a:pathLst>
                  <a:path h="181495" w="677333">
                    <a:moveTo>
                      <a:pt x="90748" y="0"/>
                    </a:moveTo>
                    <a:lnTo>
                      <a:pt x="586586" y="0"/>
                    </a:lnTo>
                    <a:cubicBezTo>
                      <a:pt x="636704" y="0"/>
                      <a:pt x="677333" y="40629"/>
                      <a:pt x="677333" y="90748"/>
                    </a:cubicBezTo>
                    <a:lnTo>
                      <a:pt x="677333" y="90748"/>
                    </a:lnTo>
                    <a:cubicBezTo>
                      <a:pt x="677333" y="114815"/>
                      <a:pt x="667772" y="137897"/>
                      <a:pt x="650754" y="154916"/>
                    </a:cubicBezTo>
                    <a:cubicBezTo>
                      <a:pt x="633736" y="171934"/>
                      <a:pt x="610654" y="181495"/>
                      <a:pt x="586586" y="181495"/>
                    </a:cubicBezTo>
                    <a:lnTo>
                      <a:pt x="90748" y="181495"/>
                    </a:lnTo>
                    <a:cubicBezTo>
                      <a:pt x="66680" y="181495"/>
                      <a:pt x="43598" y="171934"/>
                      <a:pt x="26579" y="154916"/>
                    </a:cubicBezTo>
                    <a:cubicBezTo>
                      <a:pt x="9561" y="137897"/>
                      <a:pt x="0" y="114815"/>
                      <a:pt x="0" y="90748"/>
                    </a:cubicBezTo>
                    <a:lnTo>
                      <a:pt x="0" y="90748"/>
                    </a:lnTo>
                    <a:cubicBezTo>
                      <a:pt x="0" y="66680"/>
                      <a:pt x="9561" y="43598"/>
                      <a:pt x="26579" y="26579"/>
                    </a:cubicBezTo>
                    <a:cubicBezTo>
                      <a:pt x="43598" y="9561"/>
                      <a:pt x="66680" y="0"/>
                      <a:pt x="90748" y="0"/>
                    </a:cubicBezTo>
                    <a:close/>
                  </a:path>
                </a:pathLst>
              </a:custGeom>
              <a:solidFill>
                <a:srgbClr val="CE885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677333" cy="181495"/>
              </a:xfrm>
              <a:prstGeom prst="rect">
                <a:avLst/>
              </a:prstGeom>
            </p:spPr>
            <p:txBody>
              <a:bodyPr anchor="ctr" rtlCol="false" tIns="44408" lIns="44408" bIns="44408" rIns="44408"/>
              <a:lstStyle/>
              <a:p>
                <a:pPr algn="ctr">
                  <a:lnSpc>
                    <a:spcPts val="2879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-2700000">
              <a:off x="2906402" y="95255"/>
              <a:ext cx="468474" cy="480551"/>
            </a:xfrm>
            <a:custGeom>
              <a:avLst/>
              <a:gdLst/>
              <a:ahLst/>
              <a:cxnLst/>
              <a:rect r="r" b="b" t="t" l="l"/>
              <a:pathLst>
                <a:path h="480551" w="468474">
                  <a:moveTo>
                    <a:pt x="0" y="0"/>
                  </a:moveTo>
                  <a:lnTo>
                    <a:pt x="468473" y="0"/>
                  </a:lnTo>
                  <a:lnTo>
                    <a:pt x="468473" y="480551"/>
                  </a:lnTo>
                  <a:lnTo>
                    <a:pt x="0" y="480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97602" y="606470"/>
              <a:ext cx="2602332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Hana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496192" y="3712474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8" y="0"/>
                </a:lnTo>
                <a:lnTo>
                  <a:pt x="627908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496192" y="5324013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8" y="0"/>
                </a:lnTo>
                <a:lnTo>
                  <a:pt x="627908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187325" y="1933575"/>
            <a:ext cx="1099565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F7F5F5"/>
                </a:solidFill>
                <a:latin typeface="DM Sans"/>
                <a:ea typeface="DM Sans"/>
                <a:cs typeface="DM Sans"/>
                <a:sym typeface="DM Sans"/>
              </a:rPr>
              <a:t>Agenda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09503" y="3674561"/>
            <a:ext cx="977347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</a:pPr>
            <a:r>
              <a:rPr lang="en-US" sz="4500">
                <a:solidFill>
                  <a:srgbClr val="F7F5F5"/>
                </a:solidFill>
                <a:latin typeface="DM Sans"/>
                <a:ea typeface="DM Sans"/>
                <a:cs typeface="DM Sans"/>
                <a:sym typeface="DM Sans"/>
              </a:rPr>
              <a:t>Introduction to Motherboard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09503" y="5286100"/>
            <a:ext cx="977347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4500" strike="noStrike" u="none">
                <a:solidFill>
                  <a:srgbClr val="F7F5F5"/>
                </a:solidFill>
                <a:latin typeface="DM Sans"/>
                <a:ea typeface="DM Sans"/>
                <a:cs typeface="DM Sans"/>
                <a:sym typeface="DM Sans"/>
              </a:rPr>
              <a:t>Components on the Motherboard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09503" y="6905377"/>
            <a:ext cx="977347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4500" strike="noStrike" u="none">
                <a:solidFill>
                  <a:srgbClr val="F7F5F5"/>
                </a:solidFill>
                <a:latin typeface="DM Sans"/>
                <a:ea typeface="DM Sans"/>
                <a:cs typeface="DM Sans"/>
                <a:sym typeface="DM Sans"/>
              </a:rPr>
              <a:t>Expansion Slots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09503" y="8520785"/>
            <a:ext cx="977347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4500" strike="noStrike" u="none">
                <a:solidFill>
                  <a:srgbClr val="F7F5F5"/>
                </a:solidFill>
                <a:latin typeface="DM Sans"/>
                <a:ea typeface="DM Sans"/>
                <a:cs typeface="DM Sans"/>
                <a:sym typeface="DM Sans"/>
              </a:rPr>
              <a:t>Ports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496192" y="6935552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8" y="0"/>
                </a:lnTo>
                <a:lnTo>
                  <a:pt x="627908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96192" y="8547091"/>
            <a:ext cx="627908" cy="629052"/>
          </a:xfrm>
          <a:custGeom>
            <a:avLst/>
            <a:gdLst/>
            <a:ahLst/>
            <a:cxnLst/>
            <a:rect r="r" b="b" t="t" l="l"/>
            <a:pathLst>
              <a:path h="629052" w="627908">
                <a:moveTo>
                  <a:pt x="0" y="0"/>
                </a:moveTo>
                <a:lnTo>
                  <a:pt x="627908" y="0"/>
                </a:lnTo>
                <a:lnTo>
                  <a:pt x="627908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5581" y="578334"/>
            <a:ext cx="9621783" cy="4425067"/>
            <a:chOff x="0" y="0"/>
            <a:chExt cx="2534132" cy="1165450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65581" y="5290433"/>
            <a:ext cx="9621783" cy="4425067"/>
            <a:chOff x="0" y="0"/>
            <a:chExt cx="2534132" cy="1165450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1028700"/>
            <a:ext cx="4924589" cy="3320734"/>
            <a:chOff x="0" y="0"/>
            <a:chExt cx="762948" cy="514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2"/>
              <a:stretch>
                <a:fillRect l="-42" t="0" r="-4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72950" y="5778677"/>
            <a:ext cx="4924589" cy="3320734"/>
            <a:chOff x="0" y="0"/>
            <a:chExt cx="762948" cy="5144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3"/>
              <a:stretch>
                <a:fillRect l="-42" t="0" r="-4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90906" y="721209"/>
            <a:ext cx="5828944" cy="311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5"/>
              </a:lnSpc>
            </a:pPr>
            <a:r>
              <a:rPr lang="en-US" sz="8025" spc="-240">
                <a:solidFill>
                  <a:srgbClr val="1E0604"/>
                </a:solidFill>
                <a:latin typeface="DM Sans"/>
                <a:ea typeface="DM Sans"/>
                <a:cs typeface="DM Sans"/>
                <a:sym typeface="DM Sans"/>
              </a:rPr>
              <a:t>Introduction to Motherboard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431758" y="1028700"/>
            <a:ext cx="3436392" cy="3459378"/>
            <a:chOff x="0" y="0"/>
            <a:chExt cx="4581856" cy="4612504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14300"/>
              <a:ext cx="4581856" cy="11756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348"/>
                </a:lnSpc>
              </a:pPr>
              <a:r>
                <a:rPr lang="en-US" sz="6348" spc="-190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Definition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745954"/>
              <a:ext cx="4581856" cy="2866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5"/>
                </a:lnSpc>
              </a:pPr>
              <a:r>
                <a:rPr lang="en-US" sz="2821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The motherboard is the main circuit board connecting all computer components.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31758" y="5778677"/>
            <a:ext cx="3436392" cy="3302985"/>
            <a:chOff x="0" y="0"/>
            <a:chExt cx="4581856" cy="440398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14300"/>
              <a:ext cx="4581856" cy="1117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62"/>
                </a:lnSpc>
              </a:pPr>
              <a:r>
                <a:rPr lang="en-US" sz="6062" spc="-181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Role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666449"/>
              <a:ext cx="4581856" cy="2737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33"/>
                </a:lnSpc>
              </a:pPr>
              <a:r>
                <a:rPr lang="en-US" sz="2694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It enables communication and power distribution among all parts of a computer system.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5581" y="578334"/>
            <a:ext cx="9621783" cy="4425067"/>
            <a:chOff x="0" y="0"/>
            <a:chExt cx="2534132" cy="1165450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65581" y="5290433"/>
            <a:ext cx="9621783" cy="4425067"/>
            <a:chOff x="0" y="0"/>
            <a:chExt cx="2534132" cy="1165450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1028700"/>
            <a:ext cx="4924589" cy="3320734"/>
            <a:chOff x="0" y="0"/>
            <a:chExt cx="762948" cy="514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2"/>
              <a:stretch>
                <a:fillRect l="-42" t="0" r="-4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72950" y="5778677"/>
            <a:ext cx="4924589" cy="3320734"/>
            <a:chOff x="0" y="0"/>
            <a:chExt cx="762948" cy="5144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3"/>
              <a:stretch>
                <a:fillRect l="-42" t="0" r="-4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90906" y="721209"/>
            <a:ext cx="5828944" cy="207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50"/>
              </a:lnSpc>
            </a:pPr>
            <a:r>
              <a:rPr lang="en-US" sz="7950" spc="-238">
                <a:solidFill>
                  <a:srgbClr val="1E0604"/>
                </a:solidFill>
                <a:latin typeface="DM Sans"/>
                <a:ea typeface="DM Sans"/>
                <a:cs typeface="DM Sans"/>
                <a:sym typeface="DM Sans"/>
              </a:rPr>
              <a:t>Motherboard Components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431758" y="1028700"/>
            <a:ext cx="3026217" cy="3534150"/>
            <a:chOff x="0" y="0"/>
            <a:chExt cx="4034956" cy="471220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23825"/>
              <a:ext cx="4034956" cy="2055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49"/>
                </a:lnSpc>
              </a:pPr>
              <a:r>
                <a:rPr lang="en-US" sz="5849" spc="-175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CPU Socket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599199"/>
              <a:ext cx="4034956" cy="21130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</a:pPr>
              <a:r>
                <a:rPr lang="en-US" sz="2599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Slot connecting the processor to memory and other parts.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31758" y="5778677"/>
            <a:ext cx="3463968" cy="2908573"/>
            <a:chOff x="0" y="0"/>
            <a:chExt cx="4618624" cy="3878098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14300"/>
              <a:ext cx="4618624" cy="1124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96"/>
                </a:lnSpc>
              </a:pPr>
              <a:r>
                <a:rPr lang="en-US" sz="6096" spc="-182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RAM Slots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675793"/>
              <a:ext cx="4618624" cy="2202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51"/>
                </a:lnSpc>
              </a:pPr>
              <a:r>
                <a:rPr lang="en-US" sz="2709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Hold memory modules for temporary data storage.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5581" y="578334"/>
            <a:ext cx="9621783" cy="4425067"/>
            <a:chOff x="0" y="0"/>
            <a:chExt cx="2534132" cy="1165450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65581" y="5290433"/>
            <a:ext cx="9621783" cy="4425067"/>
            <a:chOff x="0" y="0"/>
            <a:chExt cx="2534132" cy="1165450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1028700"/>
            <a:ext cx="4924589" cy="3320734"/>
            <a:chOff x="0" y="0"/>
            <a:chExt cx="762948" cy="514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2"/>
              <a:stretch>
                <a:fillRect l="-42" t="0" r="-4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72950" y="5778677"/>
            <a:ext cx="4924589" cy="3320734"/>
            <a:chOff x="0" y="0"/>
            <a:chExt cx="762948" cy="5144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3"/>
              <a:stretch>
                <a:fillRect l="-42" t="0" r="-4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90906" y="721209"/>
            <a:ext cx="5828944" cy="207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50"/>
              </a:lnSpc>
            </a:pPr>
            <a:r>
              <a:rPr lang="en-US" sz="7950" spc="-238">
                <a:solidFill>
                  <a:srgbClr val="1E0604"/>
                </a:solidFill>
                <a:latin typeface="DM Sans"/>
                <a:ea typeface="DM Sans"/>
                <a:cs typeface="DM Sans"/>
                <a:sym typeface="DM Sans"/>
              </a:rPr>
              <a:t>Motherboard Components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176495" y="1540846"/>
            <a:ext cx="3436392" cy="2296442"/>
            <a:chOff x="0" y="0"/>
            <a:chExt cx="4581856" cy="3061922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85725"/>
              <a:ext cx="4581856" cy="892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12"/>
                </a:lnSpc>
              </a:pPr>
              <a:r>
                <a:rPr lang="en-US" sz="4812" spc="-144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BIOS/UEFI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23525"/>
              <a:ext cx="4581856" cy="1738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66"/>
                </a:lnSpc>
              </a:pPr>
              <a:r>
                <a:rPr lang="en-US" sz="2138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The </a:t>
              </a:r>
              <a:r>
                <a:rPr lang="en-US" b="true" sz="2138" strike="noStrike" u="none">
                  <a:solidFill>
                    <a:srgbClr val="F7F5F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BIOS/UEFI chip</a:t>
              </a:r>
              <a:r>
                <a:rPr lang="en-US" sz="2138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 stores firmware for system startup and hardware initialization.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31758" y="5778677"/>
            <a:ext cx="4055062" cy="3207832"/>
            <a:chOff x="0" y="0"/>
            <a:chExt cx="5406749" cy="4277109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95250"/>
              <a:ext cx="5406749" cy="1882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10"/>
                </a:lnSpc>
              </a:pPr>
              <a:r>
                <a:rPr lang="en-US" sz="5310" spc="-159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Power Connectors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358845"/>
              <a:ext cx="5406749" cy="19182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32"/>
                </a:lnSpc>
              </a:pPr>
              <a:r>
                <a:rPr lang="en-US" sz="2360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Power connectors supply electricity from the power supply unit to the motherboard.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5581" y="578334"/>
            <a:ext cx="9621783" cy="4425067"/>
            <a:chOff x="0" y="0"/>
            <a:chExt cx="2534132" cy="1165450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65581" y="5290433"/>
            <a:ext cx="9621783" cy="4425067"/>
            <a:chOff x="0" y="0"/>
            <a:chExt cx="2534132" cy="1165450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1028700"/>
            <a:ext cx="4924589" cy="3320734"/>
            <a:chOff x="0" y="0"/>
            <a:chExt cx="762948" cy="514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2"/>
              <a:stretch>
                <a:fillRect l="-42" t="0" r="-4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72950" y="5778677"/>
            <a:ext cx="4924589" cy="3320734"/>
            <a:chOff x="0" y="0"/>
            <a:chExt cx="762948" cy="5144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3"/>
              <a:stretch>
                <a:fillRect l="-42" t="0" r="-4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90906" y="721209"/>
            <a:ext cx="5828944" cy="207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50"/>
              </a:lnSpc>
            </a:pPr>
            <a:r>
              <a:rPr lang="en-US" sz="7950" spc="-238">
                <a:solidFill>
                  <a:srgbClr val="1E0604"/>
                </a:solidFill>
                <a:latin typeface="DM Sans"/>
                <a:ea typeface="DM Sans"/>
                <a:cs typeface="DM Sans"/>
                <a:sym typeface="DM Sans"/>
              </a:rPr>
              <a:t>Motherboard Components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431758" y="1028700"/>
            <a:ext cx="3436392" cy="3623763"/>
            <a:chOff x="0" y="0"/>
            <a:chExt cx="4581856" cy="4831684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14300"/>
              <a:ext cx="4581856" cy="21199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997"/>
                </a:lnSpc>
              </a:pPr>
              <a:r>
                <a:rPr lang="en-US" sz="5997" spc="-179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Expansion Slots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674630"/>
              <a:ext cx="4581856" cy="2157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98"/>
                </a:lnSpc>
              </a:pPr>
              <a:r>
                <a:rPr lang="en-US" sz="2665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Expansion slots allow users to add extra cards for enhanced functionality.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040710" y="6413179"/>
            <a:ext cx="4243019" cy="2400842"/>
            <a:chOff x="0" y="0"/>
            <a:chExt cx="5657358" cy="3201123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85725"/>
              <a:ext cx="5657358" cy="15817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6"/>
                </a:lnSpc>
              </a:pPr>
              <a:r>
                <a:rPr lang="en-US" sz="4476" spc="-134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Integrated Components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988378"/>
              <a:ext cx="5657358" cy="12127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87"/>
                </a:lnSpc>
              </a:pPr>
              <a:r>
                <a:rPr lang="en-US" sz="1989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Integrated components include built-in features like audio and Ethernet ports.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5581" y="578334"/>
            <a:ext cx="9621783" cy="4425067"/>
            <a:chOff x="0" y="0"/>
            <a:chExt cx="2534132" cy="1165450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65581" y="5290433"/>
            <a:ext cx="9621783" cy="4425067"/>
            <a:chOff x="0" y="0"/>
            <a:chExt cx="2534132" cy="1165450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1028700"/>
            <a:ext cx="4924589" cy="3320734"/>
            <a:chOff x="0" y="0"/>
            <a:chExt cx="762948" cy="514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2"/>
              <a:stretch>
                <a:fillRect l="-42" t="0" r="-4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72950" y="5778677"/>
            <a:ext cx="4924589" cy="3320734"/>
            <a:chOff x="0" y="0"/>
            <a:chExt cx="762948" cy="5144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3"/>
              <a:stretch>
                <a:fillRect l="-42" t="0" r="-4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90906" y="740259"/>
            <a:ext cx="5828944" cy="349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1E0604"/>
                </a:solidFill>
                <a:latin typeface="DM Sans"/>
                <a:ea typeface="DM Sans"/>
                <a:cs typeface="DM Sans"/>
                <a:sym typeface="DM Sans"/>
              </a:rPr>
              <a:t>Expansion Slots Overview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431758" y="1028700"/>
            <a:ext cx="3741192" cy="2549353"/>
            <a:chOff x="0" y="0"/>
            <a:chExt cx="4988256" cy="339913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14300"/>
              <a:ext cx="4988256" cy="1150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25"/>
                </a:lnSpc>
              </a:pPr>
              <a:r>
                <a:rPr lang="en-US" sz="6225" spc="-186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PCI Slots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712330"/>
              <a:ext cx="4988256" cy="1686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20"/>
                </a:lnSpc>
              </a:pPr>
              <a:r>
                <a:rPr lang="en-US" sz="2767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Older slots for adding sound, network, and USB expansion cards.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31758" y="5403677"/>
            <a:ext cx="3246342" cy="3725572"/>
            <a:chOff x="0" y="0"/>
            <a:chExt cx="4328456" cy="4967429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95250"/>
              <a:ext cx="4328456" cy="26660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95"/>
                </a:lnSpc>
              </a:pPr>
              <a:r>
                <a:rPr lang="en-US" sz="5095" spc="-152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PCI Express (PCIe)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3126568"/>
              <a:ext cx="4328456" cy="18408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17"/>
                </a:lnSpc>
              </a:pPr>
              <a:r>
                <a:rPr lang="en-US" sz="2264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Modern high-speed slots primarily for graphics cards and SSDs.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5581" y="578334"/>
            <a:ext cx="9621783" cy="4425067"/>
            <a:chOff x="0" y="0"/>
            <a:chExt cx="2534132" cy="1165450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65581" y="5290433"/>
            <a:ext cx="9621783" cy="4425067"/>
            <a:chOff x="0" y="0"/>
            <a:chExt cx="2534132" cy="1165450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1028700"/>
            <a:ext cx="4924589" cy="3320734"/>
            <a:chOff x="0" y="0"/>
            <a:chExt cx="762948" cy="514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2"/>
              <a:stretch>
                <a:fillRect l="-42" t="0" r="-4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72950" y="5778677"/>
            <a:ext cx="4924589" cy="3320734"/>
            <a:chOff x="0" y="0"/>
            <a:chExt cx="762948" cy="5144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3"/>
              <a:stretch>
                <a:fillRect l="-42" t="0" r="-4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90906" y="740259"/>
            <a:ext cx="5828944" cy="463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1E0604"/>
                </a:solidFill>
                <a:latin typeface="DM Sans"/>
                <a:ea typeface="DM Sans"/>
                <a:cs typeface="DM Sans"/>
                <a:sym typeface="DM Sans"/>
              </a:rPr>
              <a:t>Expansion Slots: Typical Uses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169538" y="1122126"/>
            <a:ext cx="3960832" cy="3133882"/>
            <a:chOff x="0" y="0"/>
            <a:chExt cx="5281109" cy="4178509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04775"/>
              <a:ext cx="5281109" cy="18274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86"/>
                </a:lnSpc>
              </a:pPr>
              <a:r>
                <a:rPr lang="en-US" sz="5186" spc="-155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Upgrading Graphics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304821"/>
              <a:ext cx="5281109" cy="1873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66"/>
                </a:lnSpc>
              </a:pPr>
              <a:r>
                <a:rPr lang="en-US" sz="2305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Expansion slots allow for </a:t>
              </a:r>
              <a:r>
                <a:rPr lang="en-US" b="true" sz="2305" strike="noStrike" u="none">
                  <a:solidFill>
                    <a:srgbClr val="F7F5F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enhanced graphics</a:t>
              </a:r>
              <a:r>
                <a:rPr lang="en-US" sz="2305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 through powerful graphics card upgrades.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35641" y="5952291"/>
            <a:ext cx="3071257" cy="3101351"/>
            <a:chOff x="0" y="0"/>
            <a:chExt cx="4095009" cy="4135135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85725"/>
              <a:ext cx="4095009" cy="18268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33"/>
                </a:lnSpc>
              </a:pPr>
              <a:r>
                <a:rPr lang="en-US" sz="5133" spc="-154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Adding Ports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280546"/>
              <a:ext cx="4095009" cy="1854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8"/>
                </a:lnSpc>
              </a:pPr>
              <a:r>
                <a:rPr lang="en-US" sz="2281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Additional expansion slots enable the connection of </a:t>
              </a:r>
              <a:r>
                <a:rPr lang="en-US" b="true" sz="2281" strike="noStrike" u="none">
                  <a:solidFill>
                    <a:srgbClr val="F7F5F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more ports</a:t>
              </a:r>
              <a:r>
                <a:rPr lang="en-US" sz="2281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 for devices.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5581" y="578334"/>
            <a:ext cx="9621783" cy="4425067"/>
            <a:chOff x="0" y="0"/>
            <a:chExt cx="2534132" cy="1165450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65581" y="5290433"/>
            <a:ext cx="9621783" cy="4425067"/>
            <a:chOff x="0" y="0"/>
            <a:chExt cx="2534132" cy="1165450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1028700"/>
            <a:ext cx="4924589" cy="3320734"/>
            <a:chOff x="0" y="0"/>
            <a:chExt cx="762948" cy="514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2"/>
              <a:stretch>
                <a:fillRect l="-42" t="0" r="-4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72950" y="5778677"/>
            <a:ext cx="4924589" cy="3320734"/>
            <a:chOff x="0" y="0"/>
            <a:chExt cx="762948" cy="5144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3"/>
              <a:stretch>
                <a:fillRect l="-42" t="0" r="-4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90906" y="711684"/>
            <a:ext cx="5828944" cy="285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50"/>
              </a:lnSpc>
            </a:pPr>
            <a:r>
              <a:rPr lang="en-US" sz="7350" spc="-220">
                <a:solidFill>
                  <a:srgbClr val="1E0604"/>
                </a:solidFill>
                <a:latin typeface="DM Sans"/>
                <a:ea typeface="DM Sans"/>
                <a:cs typeface="DM Sans"/>
                <a:sym typeface="DM Sans"/>
              </a:rPr>
              <a:t>Common Ports on Motherboards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048863" y="1304383"/>
            <a:ext cx="4124087" cy="3045050"/>
            <a:chOff x="0" y="0"/>
            <a:chExt cx="5498783" cy="406006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23825"/>
              <a:ext cx="5498783" cy="11727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380"/>
                </a:lnSpc>
              </a:pPr>
              <a:r>
                <a:rPr lang="en-US" sz="6380" spc="-191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USB Ports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754976"/>
              <a:ext cx="5498783" cy="2305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03"/>
                </a:lnSpc>
              </a:pPr>
              <a:r>
                <a:rPr lang="en-US" sz="2835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USB ports connect various peripherals like keyboards and mice for data transfer and power.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31758" y="5778677"/>
            <a:ext cx="3302394" cy="3579051"/>
            <a:chOff x="0" y="0"/>
            <a:chExt cx="4403192" cy="4772067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95250"/>
              <a:ext cx="4403192" cy="18893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27"/>
                </a:lnSpc>
              </a:pPr>
              <a:r>
                <a:rPr lang="en-US" sz="5327" spc="-159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HDMI and VGA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366478"/>
              <a:ext cx="4403192" cy="2405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1"/>
                </a:lnSpc>
              </a:pPr>
              <a:r>
                <a:rPr lang="en-US" sz="2367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HDMI and VGA ports are used for connecting monitors and projectors, enabling video output.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5581" y="578334"/>
            <a:ext cx="9621783" cy="4425067"/>
            <a:chOff x="0" y="0"/>
            <a:chExt cx="2534132" cy="1165450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65581" y="5290433"/>
            <a:ext cx="9621783" cy="4425067"/>
            <a:chOff x="0" y="0"/>
            <a:chExt cx="2534132" cy="1165450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1028700"/>
            <a:ext cx="4924589" cy="3320734"/>
            <a:chOff x="0" y="0"/>
            <a:chExt cx="762948" cy="514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2"/>
              <a:stretch>
                <a:fillRect l="-42" t="0" r="-4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72950" y="5778677"/>
            <a:ext cx="4924589" cy="3320734"/>
            <a:chOff x="0" y="0"/>
            <a:chExt cx="762948" cy="5144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3"/>
              <a:stretch>
                <a:fillRect l="-42" t="0" r="-4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90906" y="740259"/>
            <a:ext cx="5828944" cy="463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1E0604"/>
                </a:solidFill>
                <a:latin typeface="DM Sans"/>
                <a:ea typeface="DM Sans"/>
                <a:cs typeface="DM Sans"/>
                <a:sym typeface="DM Sans"/>
              </a:rPr>
              <a:t>Common Audio and Network Ports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431758" y="1028700"/>
            <a:ext cx="3436392" cy="3679753"/>
            <a:chOff x="0" y="0"/>
            <a:chExt cx="4581856" cy="490633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04775"/>
              <a:ext cx="4581856" cy="1935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76"/>
                </a:lnSpc>
              </a:pPr>
              <a:r>
                <a:rPr lang="en-US" sz="5476" spc="-164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Audio Ports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433483"/>
              <a:ext cx="4581856" cy="2472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0"/>
                </a:lnSpc>
              </a:pPr>
              <a:r>
                <a:rPr lang="en-US" sz="2433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3.5mm audio jacks are used for connecting headphones, microphones, and speakers.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31758" y="5778677"/>
            <a:ext cx="3051753" cy="3740737"/>
            <a:chOff x="0" y="0"/>
            <a:chExt cx="4069004" cy="4987649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14300"/>
              <a:ext cx="4069004" cy="195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68"/>
                </a:lnSpc>
              </a:pPr>
              <a:r>
                <a:rPr lang="en-US" sz="5568" spc="-167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Ethernet Port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473386"/>
              <a:ext cx="4069004" cy="25142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69"/>
                </a:lnSpc>
              </a:pPr>
              <a:r>
                <a:rPr lang="en-US" sz="2474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The Ethernet port provides a wired connection for networking and internet access.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5581" y="578334"/>
            <a:ext cx="9621783" cy="4425067"/>
            <a:chOff x="0" y="0"/>
            <a:chExt cx="2534132" cy="1165450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65581" y="5290433"/>
            <a:ext cx="9621783" cy="4425067"/>
            <a:chOff x="0" y="0"/>
            <a:chExt cx="2534132" cy="1165450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1028700"/>
            <a:ext cx="4924589" cy="3320734"/>
            <a:chOff x="0" y="0"/>
            <a:chExt cx="762948" cy="514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2"/>
              <a:stretch>
                <a:fillRect l="-42" t="0" r="-4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72950" y="5778677"/>
            <a:ext cx="4924589" cy="3320734"/>
            <a:chOff x="0" y="0"/>
            <a:chExt cx="762948" cy="5144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3"/>
              <a:stretch>
                <a:fillRect l="-42" t="0" r="-4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90906" y="730734"/>
            <a:ext cx="5828944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0"/>
              </a:lnSpc>
            </a:pPr>
            <a:r>
              <a:rPr lang="en-US" sz="8250" spc="-247">
                <a:solidFill>
                  <a:srgbClr val="1E0604"/>
                </a:solidFill>
                <a:latin typeface="DM Sans"/>
                <a:ea typeface="DM Sans"/>
                <a:cs typeface="DM Sans"/>
                <a:sym typeface="DM Sans"/>
              </a:rPr>
              <a:t>Examples of Device Connections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431758" y="1028700"/>
            <a:ext cx="3160867" cy="3596177"/>
            <a:chOff x="0" y="0"/>
            <a:chExt cx="4214489" cy="479490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14300"/>
              <a:ext cx="4214489" cy="21029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951"/>
                </a:lnSpc>
              </a:pPr>
              <a:r>
                <a:rPr lang="en-US" sz="5951" spc="-178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Headphones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654342"/>
              <a:ext cx="4214489" cy="2140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74"/>
                </a:lnSpc>
              </a:pPr>
              <a:r>
                <a:rPr lang="en-US" sz="2645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Headphones connect via 3.5mm audio ports for sound output.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31758" y="5778677"/>
            <a:ext cx="3486397" cy="3098952"/>
            <a:chOff x="0" y="0"/>
            <a:chExt cx="4648530" cy="4131936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33350"/>
              <a:ext cx="4648530" cy="1186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495"/>
                </a:lnSpc>
              </a:pPr>
              <a:r>
                <a:rPr lang="en-US" sz="6495" spc="-194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USB Drive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785481"/>
              <a:ext cx="4648530" cy="2346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64"/>
                </a:lnSpc>
              </a:pPr>
              <a:r>
                <a:rPr lang="en-US" sz="2886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USB drives connect through USB ports for data transfer and storage.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5581" y="578334"/>
            <a:ext cx="9621783" cy="4425067"/>
            <a:chOff x="0" y="0"/>
            <a:chExt cx="2534132" cy="1165450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65581" y="5290433"/>
            <a:ext cx="9621783" cy="4425067"/>
            <a:chOff x="0" y="0"/>
            <a:chExt cx="2534132" cy="1165450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57130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1028700"/>
            <a:ext cx="4924589" cy="3320734"/>
            <a:chOff x="0" y="0"/>
            <a:chExt cx="762948" cy="514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2"/>
              <a:stretch>
                <a:fillRect l="-42" t="0" r="-4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72950" y="5778677"/>
            <a:ext cx="4924589" cy="3320734"/>
            <a:chOff x="0" y="0"/>
            <a:chExt cx="762948" cy="5144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3"/>
              <a:stretch>
                <a:fillRect l="-42" t="0" r="-4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90906" y="711684"/>
            <a:ext cx="5828944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50"/>
              </a:lnSpc>
            </a:pPr>
            <a:r>
              <a:rPr lang="en-US" sz="7350" spc="-220">
                <a:solidFill>
                  <a:srgbClr val="1E0604"/>
                </a:solidFill>
                <a:latin typeface="DM Sans"/>
                <a:ea typeface="DM Sans"/>
                <a:cs typeface="DM Sans"/>
                <a:sym typeface="DM Sans"/>
              </a:rPr>
              <a:t>Importance of Motherboards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431758" y="1028700"/>
            <a:ext cx="2919505" cy="3673873"/>
            <a:chOff x="0" y="0"/>
            <a:chExt cx="3892674" cy="4898498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95250"/>
              <a:ext cx="3892674" cy="1755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966"/>
                </a:lnSpc>
              </a:pPr>
              <a:r>
                <a:rPr lang="en-US" sz="4966" spc="-149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Central Role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197587"/>
              <a:ext cx="3892674" cy="2700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49"/>
                </a:lnSpc>
              </a:pPr>
              <a:r>
                <a:rPr lang="en-US" sz="2207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Motherboards connect all computer </a:t>
              </a:r>
              <a:r>
                <a:rPr lang="en-US" b="true" sz="2207" strike="noStrike" u="none">
                  <a:solidFill>
                    <a:srgbClr val="F7F5F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components</a:t>
              </a:r>
              <a:r>
                <a:rPr lang="en-US" sz="2207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, enabling smooth communication and power distribution.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31758" y="5778677"/>
            <a:ext cx="3430031" cy="3152580"/>
            <a:chOff x="0" y="0"/>
            <a:chExt cx="4573375" cy="420344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95250"/>
              <a:ext cx="4573375" cy="1848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18"/>
                </a:lnSpc>
              </a:pPr>
              <a:r>
                <a:rPr lang="en-US" sz="5218" spc="-156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Connectivity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327741"/>
              <a:ext cx="4573375" cy="18756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83"/>
                </a:lnSpc>
              </a:pPr>
              <a:r>
                <a:rPr lang="en-US" sz="2319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Ports allow </a:t>
              </a:r>
              <a:r>
                <a:rPr lang="en-US" b="true" sz="2319" strike="noStrike" u="none">
                  <a:solidFill>
                    <a:srgbClr val="F7F5F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devices</a:t>
              </a:r>
              <a:r>
                <a:rPr lang="en-US" sz="2319" strike="noStrike" u="none">
                  <a:solidFill>
                    <a:srgbClr val="F7F5F5"/>
                  </a:solidFill>
                  <a:latin typeface="DM Sans"/>
                  <a:ea typeface="DM Sans"/>
                  <a:cs typeface="DM Sans"/>
                  <a:sym typeface="DM Sans"/>
                </a:rPr>
                <a:t> to connect, facilitating data transfer, power supply, and communication.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D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4194532"/>
            <a:ext cx="16954500" cy="173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999"/>
              </a:lnSpc>
            </a:pPr>
            <a:r>
              <a:rPr lang="en-US" sz="12999" spc="-389">
                <a:solidFill>
                  <a:srgbClr val="1E0604"/>
                </a:solidFill>
                <a:latin typeface="DM Sans"/>
                <a:ea typeface="DM Sans"/>
                <a:cs typeface="DM Sans"/>
                <a:sym typeface="DM Sans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Motherboard and Ports</dc:description>
  <dc:identifier>DAG_yqtVu4M</dc:identifier>
  <dcterms:modified xsi:type="dcterms:W3CDTF">2011-08-01T06:04:30Z</dcterms:modified>
  <cp:revision>1</cp:revision>
  <dc:title>Presentation - Motherboard and Ports</dc:title>
</cp:coreProperties>
</file>