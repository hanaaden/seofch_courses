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Tenor Sans" charset="1" panose="02000000000000000000"/>
      <p:regular r:id="rId18"/>
    </p:embeddedFont>
    <p:embeddedFont>
      <p:font typeface="Clear Sans" charset="1" panose="020B0503030202020304"/>
      <p:regular r:id="rId19"/>
    </p:embeddedFont>
    <p:embeddedFont>
      <p:font typeface="Clear Sans Medium" charset="1" panose="020B0603030202020304"/>
      <p:regular r:id="rId20"/>
    </p:embeddedFont>
    <p:embeddedFont>
      <p:font typeface="Clear Sans Bold" charset="1" panose="020B08030302020203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F4F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4229113"/>
            <a:ext cx="9763125" cy="3838439"/>
            <a:chOff x="0" y="0"/>
            <a:chExt cx="13017500" cy="5117919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90500"/>
              <a:ext cx="13017500" cy="3721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500"/>
                </a:lnSpc>
              </a:pPr>
              <a:r>
                <a:rPr lang="en-US" sz="10500" spc="-210">
                  <a:solidFill>
                    <a:srgbClr val="FFFFFF"/>
                  </a:solidFill>
                  <a:latin typeface="Tenor Sans"/>
                  <a:ea typeface="Tenor Sans"/>
                  <a:cs typeface="Tenor Sans"/>
                  <a:sym typeface="Tenor Sans"/>
                </a:rPr>
                <a:t>What Is a Computer?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4421644"/>
              <a:ext cx="13017500" cy="69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80"/>
                </a:lnSpc>
                <a:spcBef>
                  <a:spcPct val="0"/>
                </a:spcBef>
              </a:pPr>
              <a:r>
                <a:rPr lang="en-US" sz="3200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HANA ADEN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172950" y="0"/>
            <a:ext cx="6115050" cy="10287000"/>
            <a:chOff x="0" y="0"/>
            <a:chExt cx="947381" cy="15937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47381" cy="1593725"/>
            </a:xfrm>
            <a:custGeom>
              <a:avLst/>
              <a:gdLst/>
              <a:ahLst/>
              <a:cxnLst/>
              <a:rect r="r" b="b" t="t" l="l"/>
              <a:pathLst>
                <a:path h="1593725" w="947381">
                  <a:moveTo>
                    <a:pt x="0" y="0"/>
                  </a:moveTo>
                  <a:lnTo>
                    <a:pt x="947381" y="0"/>
                  </a:lnTo>
                  <a:lnTo>
                    <a:pt x="94738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58" r="0" b="-58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8774635" y="7396104"/>
            <a:ext cx="6274865" cy="4114800"/>
          </a:xfrm>
          <a:custGeom>
            <a:avLst/>
            <a:gdLst/>
            <a:ahLst/>
            <a:cxnLst/>
            <a:rect r="r" b="b" t="t" l="l"/>
            <a:pathLst>
              <a:path h="4114800" w="6274865">
                <a:moveTo>
                  <a:pt x="0" y="0"/>
                </a:moveTo>
                <a:lnTo>
                  <a:pt x="6274865" y="0"/>
                </a:lnTo>
                <a:lnTo>
                  <a:pt x="627486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3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1562086"/>
            <a:ext cx="8324850" cy="3171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</a:pPr>
            <a:r>
              <a:rPr lang="en-US" sz="6999" spc="-139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Defining a Computer and Its Uses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8991600" y="982403"/>
            <a:ext cx="8729710" cy="8275897"/>
            <a:chOff x="0" y="0"/>
            <a:chExt cx="11639614" cy="11034529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66675"/>
              <a:ext cx="11639614" cy="8396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383"/>
                </a:lnSpc>
                <a:spcBef>
                  <a:spcPct val="0"/>
                </a:spcBef>
              </a:pPr>
              <a:r>
                <a:rPr lang="en-US" b="true" sz="3845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UNDERSTANDING COMPUTERS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416529"/>
              <a:ext cx="11639614" cy="30942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710"/>
                </a:lnSpc>
                <a:spcBef>
                  <a:spcPct val="0"/>
                </a:spcBef>
              </a:pPr>
              <a:r>
                <a:rPr lang="en-US" sz="3364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A computer is an electronic device that </a:t>
              </a:r>
              <a:r>
                <a:rPr lang="en-US" b="true" sz="3364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stores</a:t>
              </a:r>
              <a:r>
                <a:rPr lang="en-US" sz="3364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, </a:t>
              </a:r>
              <a:r>
                <a:rPr lang="en-US" b="true" sz="3364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retrieves</a:t>
              </a:r>
              <a:r>
                <a:rPr lang="en-US" sz="3364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, and </a:t>
              </a:r>
              <a:r>
                <a:rPr lang="en-US" b="true" sz="3364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processes data</a:t>
              </a:r>
              <a:r>
                <a:rPr lang="en-US" sz="3364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, enabling various tasks like typing, emailing, and gaming.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6457087"/>
              <a:ext cx="11639614" cy="8396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383"/>
                </a:lnSpc>
                <a:spcBef>
                  <a:spcPct val="0"/>
                </a:spcBef>
              </a:pPr>
              <a:r>
                <a:rPr lang="en-US" b="true" sz="3845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EVERYDAY APPLICATIONS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7940292"/>
              <a:ext cx="11639614" cy="30942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710"/>
                </a:lnSpc>
                <a:spcBef>
                  <a:spcPct val="0"/>
                </a:spcBef>
              </a:pPr>
              <a:r>
                <a:rPr lang="en-US" sz="3364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Common uses include browsing the internet, editing spreadsheets and videos, demonstrating the </a:t>
              </a:r>
              <a:r>
                <a:rPr lang="en-US" b="true" sz="3364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broad functionality</a:t>
              </a:r>
              <a:r>
                <a:rPr lang="en-US" sz="3364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of computers in everyday life.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3137432" y="7200900"/>
            <a:ext cx="6274865" cy="4114800"/>
          </a:xfrm>
          <a:custGeom>
            <a:avLst/>
            <a:gdLst/>
            <a:ahLst/>
            <a:cxnLst/>
            <a:rect r="r" b="b" t="t" l="l"/>
            <a:pathLst>
              <a:path h="4114800" w="6274865">
                <a:moveTo>
                  <a:pt x="0" y="0"/>
                </a:moveTo>
                <a:lnTo>
                  <a:pt x="6274864" y="0"/>
                </a:lnTo>
                <a:lnTo>
                  <a:pt x="62748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F4F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72950" y="0"/>
            <a:ext cx="6115050" cy="10287000"/>
            <a:chOff x="0" y="0"/>
            <a:chExt cx="947381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47381" cy="1593725"/>
            </a:xfrm>
            <a:custGeom>
              <a:avLst/>
              <a:gdLst/>
              <a:ahLst/>
              <a:cxnLst/>
              <a:rect r="r" b="b" t="t" l="l"/>
              <a:pathLst>
                <a:path h="1593725" w="947381">
                  <a:moveTo>
                    <a:pt x="0" y="0"/>
                  </a:moveTo>
                  <a:lnTo>
                    <a:pt x="947381" y="0"/>
                  </a:lnTo>
                  <a:lnTo>
                    <a:pt x="94738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58" r="0" b="-5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1562100"/>
            <a:ext cx="9763125" cy="4470458"/>
            <a:chOff x="0" y="0"/>
            <a:chExt cx="13017500" cy="5960611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3319799"/>
              <a:ext cx="1301750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ENHANCING EVERYDAY PRODUCTIVITY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4513617"/>
              <a:ext cx="13017500" cy="14469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Computers significantly improve productivity by enabling tasks like communication, entertainment, research, and creative work, making everyday life more efficient and enjoyable.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0"/>
              <a:ext cx="13017500" cy="28158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</a:pPr>
              <a:r>
                <a:rPr lang="en-US" sz="6999" spc="-139">
                  <a:solidFill>
                    <a:srgbClr val="FFFFFF"/>
                  </a:solidFill>
                  <a:latin typeface="Tenor Sans"/>
                  <a:ea typeface="Tenor Sans"/>
                  <a:cs typeface="Tenor Sans"/>
                  <a:sym typeface="Tenor Sans"/>
                </a:rPr>
                <a:t>The Role of Computers in Daily Activities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3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73152" y="2763504"/>
            <a:ext cx="6618681" cy="3171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</a:pPr>
            <a:r>
              <a:rPr lang="en-US" sz="6999" spc="-139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Hardware and Software Explained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8191833" y="2208976"/>
            <a:ext cx="9543633" cy="6738003"/>
            <a:chOff x="0" y="0"/>
            <a:chExt cx="12724844" cy="8984004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66675"/>
              <a:ext cx="12724844" cy="8004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110"/>
                </a:lnSpc>
                <a:spcBef>
                  <a:spcPct val="0"/>
                </a:spcBef>
              </a:pPr>
              <a:r>
                <a:rPr lang="en-US" b="true" sz="3650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UNDERSTANDING HARDWARE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350863"/>
              <a:ext cx="12724844" cy="21856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71"/>
                </a:lnSpc>
                <a:spcBef>
                  <a:spcPct val="0"/>
                </a:spcBef>
              </a:pPr>
              <a:r>
                <a:rPr lang="en-US" sz="3194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Hardware refers to the </a:t>
              </a:r>
              <a:r>
                <a:rPr lang="en-US" b="true" sz="3194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physical components</a:t>
              </a:r>
              <a:r>
                <a:rPr lang="en-US" sz="3194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of a computer, including the keyboard, mouse, monitor, and internal mechanisms that make it function.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5380800"/>
              <a:ext cx="12724844" cy="8004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110"/>
                </a:lnSpc>
                <a:spcBef>
                  <a:spcPct val="0"/>
                </a:spcBef>
              </a:pPr>
              <a:r>
                <a:rPr lang="en-US" b="true" sz="3650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UNDERSTANDING SOFTWARE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6798338"/>
              <a:ext cx="12724844" cy="21856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71"/>
                </a:lnSpc>
                <a:spcBef>
                  <a:spcPct val="0"/>
                </a:spcBef>
              </a:pPr>
              <a:r>
                <a:rPr lang="en-US" sz="3194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Software consists of </a:t>
              </a:r>
              <a:r>
                <a:rPr lang="en-US" b="true" sz="3194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instructions and programs</a:t>
              </a:r>
              <a:r>
                <a:rPr lang="en-US" sz="3194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that tell the hardware how to perform tasks, such as web browsing, gaming, and word processing.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3137432" y="7200900"/>
            <a:ext cx="6274865" cy="4114800"/>
          </a:xfrm>
          <a:custGeom>
            <a:avLst/>
            <a:gdLst/>
            <a:ahLst/>
            <a:cxnLst/>
            <a:rect r="r" b="b" t="t" l="l"/>
            <a:pathLst>
              <a:path h="4114800" w="6274865">
                <a:moveTo>
                  <a:pt x="0" y="0"/>
                </a:moveTo>
                <a:lnTo>
                  <a:pt x="6274864" y="0"/>
                </a:lnTo>
                <a:lnTo>
                  <a:pt x="62748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F4F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72950" y="0"/>
            <a:ext cx="6115050" cy="10287000"/>
            <a:chOff x="0" y="0"/>
            <a:chExt cx="947381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47381" cy="1593725"/>
            </a:xfrm>
            <a:custGeom>
              <a:avLst/>
              <a:gdLst/>
              <a:ahLst/>
              <a:cxnLst/>
              <a:rect r="r" b="b" t="t" l="l"/>
              <a:pathLst>
                <a:path h="1593725" w="947381">
                  <a:moveTo>
                    <a:pt x="0" y="0"/>
                  </a:moveTo>
                  <a:lnTo>
                    <a:pt x="947381" y="0"/>
                  </a:lnTo>
                  <a:lnTo>
                    <a:pt x="94738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58" r="0" b="-5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1562100"/>
            <a:ext cx="9763125" cy="5158784"/>
            <a:chOff x="0" y="0"/>
            <a:chExt cx="13017500" cy="6878378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4727729"/>
              <a:ext cx="1301750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ESSENTIAL PARTS OF A COMPUTER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5921547"/>
              <a:ext cx="13017500" cy="9568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Hardware includes all the </a:t>
              </a:r>
              <a:r>
                <a:rPr lang="en-US" b="true" sz="2099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physical parts</a:t>
              </a:r>
              <a:r>
                <a:rPr lang="en-US" sz="20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of a computer, such as the keyboard, mouse, monitor, and internal components, enabling data interaction.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0"/>
              <a:ext cx="13017500" cy="42237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</a:pPr>
              <a:r>
                <a:rPr lang="en-US" sz="6999" spc="-139">
                  <a:solidFill>
                    <a:srgbClr val="FFFFFF"/>
                  </a:solidFill>
                  <a:latin typeface="Tenor Sans"/>
                  <a:ea typeface="Tenor Sans"/>
                  <a:cs typeface="Tenor Sans"/>
                  <a:sym typeface="Tenor Sans"/>
                </a:rPr>
                <a:t>Understanding Hardware: The Physical Components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F4F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72950" y="0"/>
            <a:ext cx="6115050" cy="10287000"/>
            <a:chOff x="0" y="0"/>
            <a:chExt cx="947381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47381" cy="1593725"/>
            </a:xfrm>
            <a:custGeom>
              <a:avLst/>
              <a:gdLst/>
              <a:ahLst/>
              <a:cxnLst/>
              <a:rect r="r" b="b" t="t" l="l"/>
              <a:pathLst>
                <a:path h="1593725" w="947381">
                  <a:moveTo>
                    <a:pt x="0" y="0"/>
                  </a:moveTo>
                  <a:lnTo>
                    <a:pt x="947381" y="0"/>
                  </a:lnTo>
                  <a:lnTo>
                    <a:pt x="94738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58" r="0" b="-5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1562100"/>
            <a:ext cx="9763125" cy="6214731"/>
            <a:chOff x="0" y="0"/>
            <a:chExt cx="13017500" cy="8286308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6135659"/>
              <a:ext cx="1301750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THE ROLE OF SOFTWARE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7329477"/>
              <a:ext cx="13017500" cy="9568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Software consists of programs and applications that instruct hardware on performing tasks, including web browsing, gaming, and document creation.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0"/>
              <a:ext cx="13017500" cy="56317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</a:pPr>
              <a:r>
                <a:rPr lang="en-US" sz="6999" spc="-139">
                  <a:solidFill>
                    <a:srgbClr val="FFFFFF"/>
                  </a:solidFill>
                  <a:latin typeface="Tenor Sans"/>
                  <a:ea typeface="Tenor Sans"/>
                  <a:cs typeface="Tenor Sans"/>
                  <a:sym typeface="Tenor Sans"/>
                </a:rPr>
                <a:t>Software: Understanding Instructions for Hardware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3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87176">
            <a:off x="3189187" y="-10712043"/>
            <a:ext cx="14136818" cy="12003443"/>
          </a:xfrm>
          <a:custGeom>
            <a:avLst/>
            <a:gdLst/>
            <a:ahLst/>
            <a:cxnLst/>
            <a:rect r="r" b="b" t="t" l="l"/>
            <a:pathLst>
              <a:path h="12003443" w="14136818">
                <a:moveTo>
                  <a:pt x="0" y="0"/>
                </a:moveTo>
                <a:lnTo>
                  <a:pt x="14136818" y="0"/>
                </a:lnTo>
                <a:lnTo>
                  <a:pt x="14136818" y="12003443"/>
                </a:lnTo>
                <a:lnTo>
                  <a:pt x="0" y="120034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105025" y="1562100"/>
            <a:ext cx="14077950" cy="1055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</a:pPr>
            <a:r>
              <a:rPr lang="en-US" sz="6999" spc="-139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Types of Computers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66750" y="5143500"/>
            <a:ext cx="5448300" cy="2312513"/>
            <a:chOff x="0" y="0"/>
            <a:chExt cx="7264400" cy="308335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47625"/>
              <a:ext cx="726440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DESKTOP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146193"/>
              <a:ext cx="7264400" cy="1937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Desktop computers are </a:t>
              </a:r>
              <a:r>
                <a:rPr lang="en-US" b="true" sz="2099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stationary devices</a:t>
              </a:r>
              <a:r>
                <a:rPr lang="en-US" sz="20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that typically consist of multiple parts, including a monitor, keyboard, mouse, and CPU unit.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419850" y="5143500"/>
            <a:ext cx="5448300" cy="2312513"/>
            <a:chOff x="0" y="0"/>
            <a:chExt cx="7264400" cy="308335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47625"/>
              <a:ext cx="726440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LAPTOP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146193"/>
              <a:ext cx="7264400" cy="1937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Laptops are portable computers that feature </a:t>
              </a:r>
              <a:r>
                <a:rPr lang="en-US" b="true" sz="2099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integrated components</a:t>
              </a:r>
              <a:r>
                <a:rPr lang="en-US" sz="20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and run on battery power, allowing for convenient use anywhere and anytime.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172950" y="5143500"/>
            <a:ext cx="5448300" cy="2312513"/>
            <a:chOff x="0" y="0"/>
            <a:chExt cx="7264400" cy="3083350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47625"/>
              <a:ext cx="726440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TABLET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1146193"/>
              <a:ext cx="7264400" cy="1937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Tablets are handheld devices with </a:t>
              </a:r>
              <a:r>
                <a:rPr lang="en-US" b="true" sz="2099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touchscreen interfaces</a:t>
              </a:r>
              <a:r>
                <a:rPr lang="en-US" sz="20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, highly portable and perfect for browsing, gaming, and media consumption on the go.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F4F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72950" y="0"/>
            <a:ext cx="6115050" cy="10287000"/>
            <a:chOff x="0" y="0"/>
            <a:chExt cx="947381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47381" cy="1593725"/>
            </a:xfrm>
            <a:custGeom>
              <a:avLst/>
              <a:gdLst/>
              <a:ahLst/>
              <a:cxnLst/>
              <a:rect r="r" b="b" t="t" l="l"/>
              <a:pathLst>
                <a:path h="1593725" w="947381">
                  <a:moveTo>
                    <a:pt x="0" y="0"/>
                  </a:moveTo>
                  <a:lnTo>
                    <a:pt x="947381" y="0"/>
                  </a:lnTo>
                  <a:lnTo>
                    <a:pt x="94738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58" r="0" b="-5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1562100"/>
            <a:ext cx="9763125" cy="5158784"/>
            <a:chOff x="0" y="0"/>
            <a:chExt cx="13017500" cy="6878378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4727729"/>
              <a:ext cx="1301750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UNDERSTANDING DESKTOP COMPUTER COMPONENTS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5921547"/>
              <a:ext cx="13017500" cy="9568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Desktop computers consist of multiple parts, including a case, monitor, keyboard, and mouse, making them ideal for home, school, and office use.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0"/>
              <a:ext cx="13017500" cy="42237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</a:pPr>
              <a:r>
                <a:rPr lang="en-US" sz="6999" spc="-139">
                  <a:solidFill>
                    <a:srgbClr val="FFFFFF"/>
                  </a:solidFill>
                  <a:latin typeface="Tenor Sans"/>
                  <a:ea typeface="Tenor Sans"/>
                  <a:cs typeface="Tenor Sans"/>
                  <a:sym typeface="Tenor Sans"/>
                </a:rPr>
                <a:t>Desktop Computers: Stationary and Versatile Machines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F4F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72950" y="0"/>
            <a:ext cx="6115050" cy="10287000"/>
            <a:chOff x="0" y="0"/>
            <a:chExt cx="947381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47381" cy="1593725"/>
            </a:xfrm>
            <a:custGeom>
              <a:avLst/>
              <a:gdLst/>
              <a:ahLst/>
              <a:cxnLst/>
              <a:rect r="r" b="b" t="t" l="l"/>
              <a:pathLst>
                <a:path h="1593725" w="947381">
                  <a:moveTo>
                    <a:pt x="0" y="0"/>
                  </a:moveTo>
                  <a:lnTo>
                    <a:pt x="947381" y="0"/>
                  </a:lnTo>
                  <a:lnTo>
                    <a:pt x="94738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58" r="0" b="-5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1562100"/>
            <a:ext cx="9763125" cy="5158784"/>
            <a:chOff x="0" y="0"/>
            <a:chExt cx="13017500" cy="6878378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4727729"/>
              <a:ext cx="1301750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BATTERY-POWERED TECHNOLOGY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5921547"/>
              <a:ext cx="13017500" cy="9568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Laptops are versatile and portable devices, allowing users to work or play from anywhere, making them ideal for students and professionals alike.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0"/>
              <a:ext cx="13017500" cy="42237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</a:pPr>
              <a:r>
                <a:rPr lang="en-US" sz="6999" spc="-139">
                  <a:solidFill>
                    <a:srgbClr val="FFFFFF"/>
                  </a:solidFill>
                  <a:latin typeface="Tenor Sans"/>
                  <a:ea typeface="Tenor Sans"/>
                  <a:cs typeface="Tenor Sans"/>
                  <a:sym typeface="Tenor Sans"/>
                </a:rPr>
                <a:t>Laptop Computers: Portable and Convenient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3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87176">
            <a:off x="3189187" y="-10712043"/>
            <a:ext cx="14136818" cy="12003443"/>
          </a:xfrm>
          <a:custGeom>
            <a:avLst/>
            <a:gdLst/>
            <a:ahLst/>
            <a:cxnLst/>
            <a:rect r="r" b="b" t="t" l="l"/>
            <a:pathLst>
              <a:path h="12003443" w="14136818">
                <a:moveTo>
                  <a:pt x="0" y="0"/>
                </a:moveTo>
                <a:lnTo>
                  <a:pt x="14136818" y="0"/>
                </a:lnTo>
                <a:lnTo>
                  <a:pt x="14136818" y="12003443"/>
                </a:lnTo>
                <a:lnTo>
                  <a:pt x="0" y="120034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105025" y="1562100"/>
            <a:ext cx="14077950" cy="1055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</a:pPr>
            <a:r>
              <a:rPr lang="en-US" sz="6999" spc="-139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Other Specialized Computers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66750" y="5143500"/>
            <a:ext cx="5448300" cy="2312513"/>
            <a:chOff x="0" y="0"/>
            <a:chExt cx="7264400" cy="308335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47625"/>
              <a:ext cx="726440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SMARTPHONES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146193"/>
              <a:ext cx="7264400" cy="1937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Smartphones are </a:t>
              </a:r>
              <a:r>
                <a:rPr lang="en-US" b="true" sz="2099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multifunctional devices</a:t>
              </a:r>
              <a:r>
                <a:rPr lang="en-US" sz="20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that combine calling, internet browsing, and app usage, greatly enhancing connectivity and convenience in daily life.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419850" y="5143500"/>
            <a:ext cx="5448300" cy="2312513"/>
            <a:chOff x="0" y="0"/>
            <a:chExt cx="7264400" cy="308335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47625"/>
              <a:ext cx="726440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WEARABLES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146193"/>
              <a:ext cx="7264400" cy="1937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Wearable devices, like </a:t>
              </a:r>
              <a:r>
                <a:rPr lang="en-US" b="true" sz="2099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smartwatches and fitness trackers</a:t>
              </a:r>
              <a:r>
                <a:rPr lang="en-US" sz="20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, monitor health data and provide notifications, seamlessly integrating technology into our daily routines.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172950" y="5143500"/>
            <a:ext cx="5448300" cy="2312513"/>
            <a:chOff x="0" y="0"/>
            <a:chExt cx="7264400" cy="3083350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47625"/>
              <a:ext cx="726440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GAME CONSOLES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1146193"/>
              <a:ext cx="7264400" cy="1937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Game consoles are </a:t>
              </a:r>
              <a:r>
                <a:rPr lang="en-US" b="true" sz="2099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specialized computers</a:t>
              </a:r>
              <a:r>
                <a:rPr lang="en-US" sz="20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designed primarily for gaming, providing immersive experiences on televisions with powerful graphics and gameplay capabilities.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F4F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72950" y="0"/>
            <a:ext cx="6115050" cy="10287000"/>
            <a:chOff x="0" y="0"/>
            <a:chExt cx="947381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47381" cy="1593725"/>
            </a:xfrm>
            <a:custGeom>
              <a:avLst/>
              <a:gdLst/>
              <a:ahLst/>
              <a:cxnLst/>
              <a:rect r="r" b="b" t="t" l="l"/>
              <a:pathLst>
                <a:path h="1593725" w="947381">
                  <a:moveTo>
                    <a:pt x="0" y="0"/>
                  </a:moveTo>
                  <a:lnTo>
                    <a:pt x="947381" y="0"/>
                  </a:lnTo>
                  <a:lnTo>
                    <a:pt x="94738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58" r="0" b="-5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1562100"/>
            <a:ext cx="9763125" cy="4102836"/>
            <a:chOff x="0" y="0"/>
            <a:chExt cx="13017500" cy="5470448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3319799"/>
              <a:ext cx="1301750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MULTIFUNCTIONAL MOBILE DEVICES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4513617"/>
              <a:ext cx="13017500" cy="9568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Smartphones are </a:t>
              </a:r>
              <a:r>
                <a:rPr lang="en-US" b="true" sz="2099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powerful devices</a:t>
              </a:r>
              <a:r>
                <a:rPr lang="en-US" sz="20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that offer Internet access, numerous apps, and capabilities, effectively functioning as portable computers for everyday use.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0"/>
              <a:ext cx="13017500" cy="28158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</a:pPr>
              <a:r>
                <a:rPr lang="en-US" sz="6999" spc="-139">
                  <a:solidFill>
                    <a:srgbClr val="FFFFFF"/>
                  </a:solidFill>
                  <a:latin typeface="Tenor Sans"/>
                  <a:ea typeface="Tenor Sans"/>
                  <a:cs typeface="Tenor Sans"/>
                  <a:sym typeface="Tenor Sans"/>
                </a:rPr>
                <a:t>Smartphones as Modern Computers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56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926989">
            <a:off x="-12431368" y="-8975965"/>
            <a:ext cx="27274407" cy="25058977"/>
          </a:xfrm>
          <a:custGeom>
            <a:avLst/>
            <a:gdLst/>
            <a:ahLst/>
            <a:cxnLst/>
            <a:rect r="r" b="b" t="t" l="l"/>
            <a:pathLst>
              <a:path h="25058977" w="27274407">
                <a:moveTo>
                  <a:pt x="0" y="0"/>
                </a:moveTo>
                <a:lnTo>
                  <a:pt x="27274407" y="0"/>
                </a:lnTo>
                <a:lnTo>
                  <a:pt x="27274407" y="25058977"/>
                </a:lnTo>
                <a:lnTo>
                  <a:pt x="0" y="250589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5111384">
            <a:off x="13680135" y="1098024"/>
            <a:ext cx="12122938" cy="11672351"/>
          </a:xfrm>
          <a:custGeom>
            <a:avLst/>
            <a:gdLst/>
            <a:ahLst/>
            <a:cxnLst/>
            <a:rect r="r" b="b" t="t" l="l"/>
            <a:pathLst>
              <a:path h="11672351" w="12122938">
                <a:moveTo>
                  <a:pt x="0" y="0"/>
                </a:moveTo>
                <a:lnTo>
                  <a:pt x="12122939" y="0"/>
                </a:lnTo>
                <a:lnTo>
                  <a:pt x="12122939" y="11672352"/>
                </a:lnTo>
                <a:lnTo>
                  <a:pt x="0" y="116723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3699523"/>
            <a:ext cx="11425089" cy="2868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320"/>
              </a:lnSpc>
            </a:pPr>
            <a:r>
              <a:rPr lang="en-US" sz="9434" spc="-188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Thank You for Your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What Is a Computer?</dc:description>
  <dc:identifier>DAG_s2F1Jqo</dc:identifier>
  <dcterms:modified xsi:type="dcterms:W3CDTF">2011-08-01T06:04:30Z</dcterms:modified>
  <cp:revision>1</cp:revision>
  <dc:title>Presentation - What Is a Computer?</dc:title>
</cp:coreProperties>
</file>