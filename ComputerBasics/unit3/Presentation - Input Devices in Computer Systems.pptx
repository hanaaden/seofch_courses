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TT Interphases" charset="1" panose="02000503020000020004"/>
      <p:regular r:id="rId24"/>
    </p:embeddedFont>
    <p:embeddedFont>
      <p:font typeface="Cooper BT Light" charset="1" panose="0208050304030B020404"/>
      <p:regular r:id="rId25"/>
    </p:embeddedFont>
    <p:embeddedFont>
      <p:font typeface="TT Interphases Bold" charset="1" panose="020008030600000200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666750"/>
            <a:ext cx="8324850" cy="6856149"/>
            <a:chOff x="0" y="0"/>
            <a:chExt cx="11099800" cy="914153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8623372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19"/>
                </a:lnSpc>
              </a:pPr>
              <a:r>
                <a:rPr lang="en-US" sz="2399" spc="-47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An Overview of Input Devices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19075"/>
              <a:ext cx="11099800" cy="7942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499"/>
                </a:lnSpc>
              </a:pPr>
              <a:r>
                <a:rPr lang="en-US" sz="11499" spc="-229">
                  <a:solidFill>
                    <a:srgbClr val="1A1A1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Input Devices in Computer Systems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8724859"/>
            <a:ext cx="8324850" cy="895391"/>
            <a:chOff x="0" y="0"/>
            <a:chExt cx="11099800" cy="119385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659184"/>
              <a:ext cx="110998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Seofch Acedamy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9050"/>
              <a:ext cx="11099800" cy="5812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800">
                  <a:solidFill>
                    <a:srgbClr val="60606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Hana Aden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9296400" y="3524250"/>
            <a:ext cx="8324850" cy="247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00"/>
              </a:lnSpc>
            </a:pPr>
            <a:r>
              <a:rPr lang="en-US" sz="9500" spc="-190" strike="noStrike" u="none">
                <a:solidFill>
                  <a:srgbClr val="1A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Introduction to Input Devices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52388" y="1028700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6" y="0"/>
                </a:lnTo>
                <a:lnTo>
                  <a:pt x="1438276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3352800"/>
            <a:ext cx="8324850" cy="3827145"/>
            <a:chOff x="0" y="0"/>
            <a:chExt cx="11099800" cy="510286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543300"/>
              <a:ext cx="11099800" cy="1559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400" spc="-48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Input devices are essential </a:t>
              </a:r>
              <a:r>
                <a:rPr lang="en-US" b="true" sz="2400" spc="-48" strike="noStrike" u="none">
                  <a:solidFill>
                    <a:srgbClr val="1A1A1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hardware tools</a:t>
              </a:r>
              <a:r>
                <a:rPr lang="en-US" sz="2400" spc="-48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that enable users to enter data and instructions into computers, facilitating interaction and communication with digital systems.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71450"/>
              <a:ext cx="11099800" cy="3350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00"/>
                </a:lnSpc>
                <a:spcBef>
                  <a:spcPct val="0"/>
                </a:spcBef>
              </a:pPr>
              <a:r>
                <a:rPr lang="en-US" sz="9500" spc="-190" strike="noStrike" u="none">
                  <a:solidFill>
                    <a:srgbClr val="1A1A1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Defining Input Devices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6115050" y="8971632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9296400" y="3524250"/>
            <a:ext cx="8324850" cy="247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00"/>
              </a:lnSpc>
            </a:pPr>
            <a:r>
              <a:rPr lang="en-US" sz="9500" spc="-190" strike="noStrike" u="none">
                <a:solidFill>
                  <a:srgbClr val="1A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Classification of Input Devices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52388" y="1028700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6" y="0"/>
                </a:lnTo>
                <a:lnTo>
                  <a:pt x="1438276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5524049"/>
            <a:ext cx="6886575" cy="4096201"/>
            <a:chOff x="0" y="0"/>
            <a:chExt cx="1366488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66488" cy="812800"/>
            </a:xfrm>
            <a:custGeom>
              <a:avLst/>
              <a:gdLst/>
              <a:ahLst/>
              <a:cxnLst/>
              <a:rect r="r" b="b" t="t" l="l"/>
              <a:pathLst>
                <a:path h="812800" w="1366488">
                  <a:moveTo>
                    <a:pt x="44968" y="0"/>
                  </a:moveTo>
                  <a:lnTo>
                    <a:pt x="1321519" y="0"/>
                  </a:lnTo>
                  <a:cubicBezTo>
                    <a:pt x="1333446" y="0"/>
                    <a:pt x="1344884" y="4738"/>
                    <a:pt x="1353317" y="13171"/>
                  </a:cubicBezTo>
                  <a:cubicBezTo>
                    <a:pt x="1361750" y="21604"/>
                    <a:pt x="1366488" y="33042"/>
                    <a:pt x="1366488" y="44968"/>
                  </a:cubicBezTo>
                  <a:lnTo>
                    <a:pt x="1366488" y="767832"/>
                  </a:lnTo>
                  <a:cubicBezTo>
                    <a:pt x="1366488" y="779758"/>
                    <a:pt x="1361750" y="791196"/>
                    <a:pt x="1353317" y="799629"/>
                  </a:cubicBezTo>
                  <a:cubicBezTo>
                    <a:pt x="1344884" y="808062"/>
                    <a:pt x="1333446" y="812800"/>
                    <a:pt x="1321519" y="812800"/>
                  </a:cubicBezTo>
                  <a:lnTo>
                    <a:pt x="44968" y="812800"/>
                  </a:lnTo>
                  <a:cubicBezTo>
                    <a:pt x="33042" y="812800"/>
                    <a:pt x="21604" y="808062"/>
                    <a:pt x="13171" y="799629"/>
                  </a:cubicBezTo>
                  <a:cubicBezTo>
                    <a:pt x="4738" y="791196"/>
                    <a:pt x="0" y="779758"/>
                    <a:pt x="0" y="767832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-89" t="0" r="-89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666750" y="666750"/>
            <a:ext cx="6886575" cy="4094128"/>
            <a:chOff x="0" y="0"/>
            <a:chExt cx="136718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67180" cy="812800"/>
            </a:xfrm>
            <a:custGeom>
              <a:avLst/>
              <a:gdLst/>
              <a:ahLst/>
              <a:cxnLst/>
              <a:rect r="r" b="b" t="t" l="l"/>
              <a:pathLst>
                <a:path h="812800" w="1367180">
                  <a:moveTo>
                    <a:pt x="44968" y="0"/>
                  </a:moveTo>
                  <a:lnTo>
                    <a:pt x="1322211" y="0"/>
                  </a:lnTo>
                  <a:cubicBezTo>
                    <a:pt x="1334138" y="0"/>
                    <a:pt x="1345576" y="4738"/>
                    <a:pt x="1354009" y="13171"/>
                  </a:cubicBezTo>
                  <a:cubicBezTo>
                    <a:pt x="1362442" y="21604"/>
                    <a:pt x="1367180" y="33042"/>
                    <a:pt x="1367180" y="44968"/>
                  </a:cubicBezTo>
                  <a:lnTo>
                    <a:pt x="1367180" y="767832"/>
                  </a:lnTo>
                  <a:cubicBezTo>
                    <a:pt x="1367180" y="779758"/>
                    <a:pt x="1362442" y="791196"/>
                    <a:pt x="1354009" y="799629"/>
                  </a:cubicBezTo>
                  <a:cubicBezTo>
                    <a:pt x="1345576" y="808062"/>
                    <a:pt x="1334138" y="812800"/>
                    <a:pt x="1322211" y="812800"/>
                  </a:cubicBezTo>
                  <a:lnTo>
                    <a:pt x="44968" y="812800"/>
                  </a:lnTo>
                  <a:cubicBezTo>
                    <a:pt x="33042" y="812800"/>
                    <a:pt x="21604" y="808062"/>
                    <a:pt x="13171" y="799629"/>
                  </a:cubicBezTo>
                  <a:cubicBezTo>
                    <a:pt x="4738" y="791196"/>
                    <a:pt x="0" y="779758"/>
                    <a:pt x="0" y="767832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3"/>
              <a:stretch>
                <a:fillRect l="-63" t="0" r="-63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296400" y="3352800"/>
            <a:ext cx="8324850" cy="4217670"/>
            <a:chOff x="0" y="0"/>
            <a:chExt cx="11099800" cy="562356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3543300"/>
              <a:ext cx="11099800" cy="2080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400" spc="-48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This section contrasts </a:t>
              </a:r>
              <a:r>
                <a:rPr lang="en-US" b="true" sz="2400" spc="-48" strike="noStrike" u="none">
                  <a:solidFill>
                    <a:srgbClr val="1A1A1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basic input devices</a:t>
              </a:r>
              <a:r>
                <a:rPr lang="en-US" sz="2400" spc="-48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essential for standard computer operations, with </a:t>
              </a:r>
              <a:r>
                <a:rPr lang="en-US" b="true" sz="2400" spc="-48" strike="noStrike" u="none">
                  <a:solidFill>
                    <a:srgbClr val="1A1A1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special input devices</a:t>
              </a:r>
              <a:r>
                <a:rPr lang="en-US" sz="2400" spc="-48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which enhance functionality for specific tasks, showcasing their importance in computing.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71450"/>
              <a:ext cx="11099800" cy="3350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00"/>
                </a:lnSpc>
                <a:spcBef>
                  <a:spcPct val="0"/>
                </a:spcBef>
              </a:pPr>
              <a:r>
                <a:rPr lang="en-US" sz="9500" spc="-190" strike="noStrike" u="none">
                  <a:solidFill>
                    <a:srgbClr val="1A1A1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Basic vs Special Devices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0" y="4866365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9296400" y="3524250"/>
            <a:ext cx="8324850" cy="247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00"/>
              </a:lnSpc>
            </a:pPr>
            <a:r>
              <a:rPr lang="en-US" sz="9500" spc="-190" strike="noStrike" u="none">
                <a:solidFill>
                  <a:srgbClr val="1A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Basic Input Devices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52388" y="1028700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6" y="0"/>
                </a:lnTo>
                <a:lnTo>
                  <a:pt x="1438276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3352800"/>
            <a:ext cx="8324850" cy="3827145"/>
            <a:chOff x="0" y="0"/>
            <a:chExt cx="11099800" cy="510286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543300"/>
              <a:ext cx="11099800" cy="1559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400" spc="-48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 keyboard serves as the </a:t>
              </a:r>
              <a:r>
                <a:rPr lang="en-US" b="true" sz="2400" spc="-48" strike="noStrike" u="none">
                  <a:solidFill>
                    <a:srgbClr val="1A1A1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main input device</a:t>
              </a:r>
              <a:r>
                <a:rPr lang="en-US" sz="2400" spc="-48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for text entry in computing. Its QWERTY layout facilitates efficient typing, featuring various key categories for diverse functions.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71450"/>
              <a:ext cx="11099800" cy="3350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00"/>
                </a:lnSpc>
                <a:spcBef>
                  <a:spcPct val="0"/>
                </a:spcBef>
              </a:pPr>
              <a:r>
                <a:rPr lang="en-US" sz="9500" spc="-190" strike="noStrike" u="none">
                  <a:solidFill>
                    <a:srgbClr val="1A1A1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Computer Keyboard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6115050" y="8971632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3352800"/>
            <a:ext cx="8324850" cy="5027295"/>
            <a:chOff x="0" y="0"/>
            <a:chExt cx="11099800" cy="670306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5143500"/>
              <a:ext cx="11099800" cy="1559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400" spc="-48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An ergonomic computer mouse is designed for </a:t>
              </a:r>
              <a:r>
                <a:rPr lang="en-US" b="true" sz="2400" spc="-48" strike="noStrike" u="none">
                  <a:solidFill>
                    <a:srgbClr val="1A1A1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comfort and efficiency</a:t>
              </a:r>
              <a:r>
                <a:rPr lang="en-US" sz="2400" spc="-48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. It allows users to navigate their screens effortlessly while reducing strain on the wrist during prolonged use.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71450"/>
              <a:ext cx="11099800" cy="49508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00"/>
                </a:lnSpc>
                <a:spcBef>
                  <a:spcPct val="0"/>
                </a:spcBef>
              </a:pPr>
              <a:r>
                <a:rPr lang="en-US" sz="9500" spc="-190" strike="noStrike" u="none">
                  <a:solidFill>
                    <a:srgbClr val="1A1A1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Ergonomic Computer Mouse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6115050" y="8971632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3352800"/>
            <a:ext cx="8324850" cy="3017520"/>
            <a:chOff x="0" y="0"/>
            <a:chExt cx="11099800" cy="402336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943100"/>
              <a:ext cx="11099800" cy="2080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400" spc="-48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 microphone is a key </a:t>
              </a:r>
              <a:r>
                <a:rPr lang="en-US" b="true" sz="2400" spc="-48" strike="noStrike" u="none">
                  <a:solidFill>
                    <a:srgbClr val="1A1A1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input device</a:t>
              </a:r>
              <a:r>
                <a:rPr lang="en-US" sz="2400" spc="-48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for capturing audio. It converts sound waves into electrical signals for processing, making it essential for recordings, voice commands, and communication.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71450"/>
              <a:ext cx="11099800" cy="17504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00"/>
                </a:lnSpc>
                <a:spcBef>
                  <a:spcPct val="0"/>
                </a:spcBef>
              </a:pPr>
              <a:r>
                <a:rPr lang="en-US" sz="9500" spc="-190" strike="noStrike" u="none">
                  <a:solidFill>
                    <a:srgbClr val="1A1A1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Microphone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6115050" y="8971632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9296400" y="3524250"/>
            <a:ext cx="8324850" cy="247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00"/>
              </a:lnSpc>
            </a:pPr>
            <a:r>
              <a:rPr lang="en-US" sz="9500" spc="-190" strike="noStrike" u="none">
                <a:solidFill>
                  <a:srgbClr val="1A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Special Input Devices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52388" y="1028700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6" y="0"/>
                </a:lnTo>
                <a:lnTo>
                  <a:pt x="1438276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3352800"/>
            <a:ext cx="8324850" cy="2626995"/>
            <a:chOff x="0" y="0"/>
            <a:chExt cx="11099800" cy="350266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943100"/>
              <a:ext cx="11099800" cy="1559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400" spc="-48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 scanner is an essential </a:t>
              </a:r>
              <a:r>
                <a:rPr lang="en-US" b="true" sz="2400" spc="-48" strike="noStrike" u="none">
                  <a:solidFill>
                    <a:srgbClr val="1A1A1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input device</a:t>
              </a:r>
              <a:r>
                <a:rPr lang="en-US" sz="2400" spc="-48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that converts physical documents into digital images. It enables easy storage and editing of documents for computer processing.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71450"/>
              <a:ext cx="11099800" cy="17504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00"/>
                </a:lnSpc>
                <a:spcBef>
                  <a:spcPct val="0"/>
                </a:spcBef>
              </a:pPr>
              <a:r>
                <a:rPr lang="en-US" sz="9500" spc="-190" strike="noStrike" u="none">
                  <a:solidFill>
                    <a:srgbClr val="1A1A1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Scanner Device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6115050" y="8971632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3352800"/>
            <a:ext cx="8324850" cy="2626995"/>
            <a:chOff x="0" y="0"/>
            <a:chExt cx="11099800" cy="350266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943100"/>
              <a:ext cx="11099800" cy="1559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400" spc="-48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 </a:t>
              </a:r>
              <a:r>
                <a:rPr lang="en-US" b="true" sz="2400" spc="-48" strike="noStrike" u="none">
                  <a:solidFill>
                    <a:srgbClr val="1A1A1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digital camera</a:t>
              </a:r>
              <a:r>
                <a:rPr lang="en-US" sz="2400" spc="-48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captures high-quality photos and videos, allowing for versatile input to computers. It enables users to document moments and share experiences efficiently.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71450"/>
              <a:ext cx="11099800" cy="17504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00"/>
                </a:lnSpc>
                <a:spcBef>
                  <a:spcPct val="0"/>
                </a:spcBef>
              </a:pPr>
              <a:r>
                <a:rPr lang="en-US" sz="9500" spc="-190" strike="noStrike" u="none">
                  <a:solidFill>
                    <a:srgbClr val="1A1A1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Digital Camera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6115050" y="8971632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3352800"/>
            <a:ext cx="8324850" cy="3827145"/>
            <a:chOff x="0" y="0"/>
            <a:chExt cx="11099800" cy="510286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543300"/>
              <a:ext cx="11099800" cy="1559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400" spc="-48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Touch screens provide an </a:t>
              </a:r>
              <a:r>
                <a:rPr lang="en-US" b="true" sz="2400" spc="-48" strike="noStrike" u="none">
                  <a:solidFill>
                    <a:srgbClr val="1A1A1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interactive interface</a:t>
              </a:r>
              <a:r>
                <a:rPr lang="en-US" sz="2400" spc="-48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where users can directly manipulate content through taps and swipes, enhancing usability and accessibility in various applications.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71450"/>
              <a:ext cx="11099800" cy="3350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00"/>
                </a:lnSpc>
                <a:spcBef>
                  <a:spcPct val="0"/>
                </a:spcBef>
              </a:pPr>
              <a:r>
                <a:rPr lang="en-US" sz="9500" spc="-190" strike="noStrike" u="none">
                  <a:solidFill>
                    <a:srgbClr val="1A1A1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Touch Screen Technology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6115050" y="8971632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3352800"/>
            <a:ext cx="8324850" cy="4217670"/>
            <a:chOff x="0" y="0"/>
            <a:chExt cx="11099800" cy="562356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543300"/>
              <a:ext cx="11099800" cy="2080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400" spc="-48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Barcode readers are essential for </a:t>
              </a:r>
              <a:r>
                <a:rPr lang="en-US" b="true" sz="2400" spc="-48" strike="noStrike" u="none">
                  <a:solidFill>
                    <a:srgbClr val="1A1A1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automated data capture</a:t>
              </a:r>
              <a:r>
                <a:rPr lang="en-US" sz="2400" spc="-48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allowing quick scanning of products. They facilitate efficient inventory management and checkout processes in retail environments, enhancing productivity.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71450"/>
              <a:ext cx="11099800" cy="3350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00"/>
                </a:lnSpc>
                <a:spcBef>
                  <a:spcPct val="0"/>
                </a:spcBef>
              </a:pPr>
              <a:r>
                <a:rPr lang="en-US" sz="9500" spc="-190" strike="noStrike" u="none">
                  <a:solidFill>
                    <a:srgbClr val="1A1A1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Barcode Readers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6115050" y="8971632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9296400" y="3524250"/>
            <a:ext cx="8324850" cy="3670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00"/>
              </a:lnSpc>
            </a:pPr>
            <a:r>
              <a:rPr lang="en-US" sz="9500" spc="-190" strike="noStrike" u="none">
                <a:solidFill>
                  <a:srgbClr val="1A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Keyboard Functions and Types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52388" y="1028700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6" y="0"/>
                </a:lnTo>
                <a:lnTo>
                  <a:pt x="1438276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73009" y="666750"/>
            <a:ext cx="9148241" cy="8953500"/>
            <a:chOff x="0" y="0"/>
            <a:chExt cx="240941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9413" cy="2358124"/>
            </a:xfrm>
            <a:custGeom>
              <a:avLst/>
              <a:gdLst/>
              <a:ahLst/>
              <a:cxnLst/>
              <a:rect r="r" b="b" t="t" l="l"/>
              <a:pathLst>
                <a:path h="2358124" w="2409413">
                  <a:moveTo>
                    <a:pt x="33851" y="0"/>
                  </a:moveTo>
                  <a:lnTo>
                    <a:pt x="2375562" y="0"/>
                  </a:lnTo>
                  <a:cubicBezTo>
                    <a:pt x="2394258" y="0"/>
                    <a:pt x="2409413" y="15156"/>
                    <a:pt x="2409413" y="33851"/>
                  </a:cubicBezTo>
                  <a:lnTo>
                    <a:pt x="2409413" y="2324272"/>
                  </a:lnTo>
                  <a:cubicBezTo>
                    <a:pt x="2409413" y="2342968"/>
                    <a:pt x="2394258" y="2358124"/>
                    <a:pt x="2375562" y="2358124"/>
                  </a:cubicBezTo>
                  <a:lnTo>
                    <a:pt x="33851" y="2358124"/>
                  </a:lnTo>
                  <a:cubicBezTo>
                    <a:pt x="24873" y="2358124"/>
                    <a:pt x="16263" y="2354557"/>
                    <a:pt x="9915" y="2348209"/>
                  </a:cubicBezTo>
                  <a:cubicBezTo>
                    <a:pt x="3566" y="2341861"/>
                    <a:pt x="0" y="2333250"/>
                    <a:pt x="0" y="2324272"/>
                  </a:cubicBezTo>
                  <a:lnTo>
                    <a:pt x="0" y="33851"/>
                  </a:lnTo>
                  <a:cubicBezTo>
                    <a:pt x="0" y="15156"/>
                    <a:pt x="15156" y="0"/>
                    <a:pt x="33851" y="0"/>
                  </a:cubicBezTo>
                  <a:close/>
                </a:path>
              </a:pathLst>
            </a:custGeom>
            <a:solidFill>
              <a:srgbClr val="C0C0C0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409413" cy="2386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6886575" cy="3048001"/>
            <a:chOff x="0" y="0"/>
            <a:chExt cx="9182100" cy="406400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3545841"/>
              <a:ext cx="91821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1A1A1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Understanding different types of keyboard keys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61925"/>
              <a:ext cx="9182100" cy="29961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  <a:r>
                <a:rPr lang="en-US" sz="8499" spc="-169" strike="noStrike" u="none">
                  <a:solidFill>
                    <a:srgbClr val="1A1A1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Keyboard Key Categories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1562100"/>
            <a:ext cx="6886575" cy="1294130"/>
            <a:chOff x="0" y="0"/>
            <a:chExt cx="9182100" cy="172550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38100"/>
              <a:ext cx="91821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1A1A1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Numeric Keys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686646"/>
              <a:ext cx="9182100" cy="1038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Used for entering numerical data efficiently and quickly.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3354706"/>
            <a:ext cx="6886575" cy="1294130"/>
            <a:chOff x="0" y="0"/>
            <a:chExt cx="9182100" cy="1725506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38100"/>
              <a:ext cx="91821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1A1A1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Alphabetic Keys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686646"/>
              <a:ext cx="9182100" cy="1038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Essential for typing letters and forming written content.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96400" y="5144135"/>
            <a:ext cx="6886575" cy="1294130"/>
            <a:chOff x="0" y="0"/>
            <a:chExt cx="9182100" cy="1725506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38100"/>
              <a:ext cx="91821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1A1A1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Mathematical Keys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686646"/>
              <a:ext cx="9182100" cy="1038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Facilitate basic calculations and mathematical operations easily.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296400" y="6933565"/>
            <a:ext cx="6886575" cy="1294130"/>
            <a:chOff x="0" y="0"/>
            <a:chExt cx="9182100" cy="1725506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38100"/>
              <a:ext cx="91821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1A1A1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Function Keys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686646"/>
              <a:ext cx="9182100" cy="1038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Provide shortcuts for software commands and functions effectively.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-700808" y="6607510"/>
            <a:ext cx="3459016" cy="4461104"/>
          </a:xfrm>
          <a:custGeom>
            <a:avLst/>
            <a:gdLst/>
            <a:ahLst/>
            <a:cxnLst/>
            <a:rect r="r" b="b" t="t" l="l"/>
            <a:pathLst>
              <a:path h="4461104" w="3459016">
                <a:moveTo>
                  <a:pt x="0" y="0"/>
                </a:moveTo>
                <a:lnTo>
                  <a:pt x="3459016" y="0"/>
                </a:lnTo>
                <a:lnTo>
                  <a:pt x="3459016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34450" y="264117"/>
            <a:ext cx="8844115" cy="8994183"/>
            <a:chOff x="0" y="0"/>
            <a:chExt cx="11792153" cy="11992243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392967" y="4750062"/>
              <a:ext cx="11399186" cy="72421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20"/>
                </a:lnSpc>
              </a:pPr>
              <a:r>
                <a:rPr lang="en-US" sz="2785" spc="-55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Types of Keys 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on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a Keyb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ard</a:t>
              </a:r>
            </a:p>
            <a:p>
              <a:pPr algn="l" marL="0" indent="0" lvl="0">
                <a:lnSpc>
                  <a:spcPts val="3620"/>
                </a:lnSpc>
              </a:pP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(a) Nu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er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ic 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K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ey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</a:t>
              </a:r>
            </a:p>
            <a:p>
              <a:pPr algn="l" marL="0" indent="0" lvl="0">
                <a:lnSpc>
                  <a:spcPts val="3620"/>
                </a:lnSpc>
              </a:pP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Keys num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b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ered fr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 0 to 9 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ar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 calle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numeric key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 a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nd a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re 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sed to 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ente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numb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rs.</a:t>
              </a:r>
            </a:p>
            <a:p>
              <a:pPr algn="l" marL="0" indent="0" lvl="0">
                <a:lnSpc>
                  <a:spcPts val="3620"/>
                </a:lnSpc>
              </a:pP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(b) Alphabeti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K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ys</a:t>
              </a:r>
            </a:p>
            <a:p>
              <a:pPr algn="l" marL="0" indent="0" lvl="0">
                <a:lnSpc>
                  <a:spcPts val="3620"/>
                </a:lnSpc>
              </a:pP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Key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labeled A 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 Z a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 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lphabet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 keys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and 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ar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used to type letters.</a:t>
              </a:r>
            </a:p>
            <a:p>
              <a:pPr algn="l" marL="0" indent="0" lvl="0">
                <a:lnSpc>
                  <a:spcPts val="3620"/>
                </a:lnSpc>
              </a:pP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(c) Mat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h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em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ti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al K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ys</a:t>
              </a:r>
            </a:p>
            <a:p>
              <a:pPr algn="l" marL="0" indent="0" lvl="0">
                <a:lnSpc>
                  <a:spcPts val="3620"/>
                </a:lnSpc>
              </a:pP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Keys with sy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b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ls such as +, −, ×, ÷, =, %, &lt;, &gt;, { }, [ ], and ( ) a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 ma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hematical keys used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for 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calc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lation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</a:t>
              </a:r>
              <a:r>
                <a:rPr lang="en-US" sz="2785" spc="-55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.</a:t>
              </a:r>
            </a:p>
            <a:p>
              <a:pPr algn="l" marL="0" indent="0" lvl="0">
                <a:lnSpc>
                  <a:spcPts val="3620"/>
                </a:lnSpc>
              </a:pPr>
            </a:p>
            <a:p>
              <a:pPr algn="l" marL="0" indent="0" lvl="0">
                <a:lnSpc>
                  <a:spcPts val="3620"/>
                </a:lnSpc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00025"/>
              <a:ext cx="11399186" cy="38873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024"/>
                </a:lnSpc>
                <a:spcBef>
                  <a:spcPct val="0"/>
                </a:spcBef>
              </a:pPr>
              <a:r>
                <a:rPr lang="en-US" sz="11024" spc="-220" strike="noStrike" u="none">
                  <a:solidFill>
                    <a:srgbClr val="1A1A1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Types of Keyboards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6115050" y="8971632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64117" y="5878180"/>
            <a:ext cx="9763125" cy="3846361"/>
            <a:chOff x="0" y="0"/>
            <a:chExt cx="13017500" cy="5128481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048221"/>
              <a:ext cx="11099800" cy="2080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400" spc="-48" strike="noStrike" u="none">
                  <a:solidFill>
                    <a:srgbClr val="1A1A1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In summary, input devices are essential for effective computer interaction. They enhance user experience and enable diverse functionalities, making technology more accessible and efficient for everyone.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90500"/>
              <a:ext cx="13017500" cy="18372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  <a:spcBef>
                  <a:spcPct val="0"/>
                </a:spcBef>
              </a:pPr>
              <a:r>
                <a:rPr lang="en-US" sz="9999" spc="-199" strike="noStrike" u="none">
                  <a:solidFill>
                    <a:srgbClr val="1A1A1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Conclusion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28144" y="6607510"/>
            <a:ext cx="3459016" cy="4461104"/>
          </a:xfrm>
          <a:custGeom>
            <a:avLst/>
            <a:gdLst/>
            <a:ahLst/>
            <a:cxnLst/>
            <a:rect r="r" b="b" t="t" l="l"/>
            <a:pathLst>
              <a:path h="4461104" w="3459016">
                <a:moveTo>
                  <a:pt x="0" y="0"/>
                </a:moveTo>
                <a:lnTo>
                  <a:pt x="3459015" y="0"/>
                </a:lnTo>
                <a:lnTo>
                  <a:pt x="3459015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51857" y="990600"/>
            <a:ext cx="11967708" cy="445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  <a:spcBef>
                <a:spcPct val="0"/>
              </a:spcBef>
            </a:pPr>
            <a:r>
              <a:rPr lang="en-US" sz="3000">
                <a:solidFill>
                  <a:srgbClr val="1A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d) Numeric Keypad</a:t>
            </a:r>
          </a:p>
          <a:p>
            <a:pPr algn="ctr">
              <a:lnSpc>
                <a:spcPts val="3900"/>
              </a:lnSpc>
              <a:spcBef>
                <a:spcPct val="0"/>
              </a:spcBef>
            </a:pPr>
            <a:r>
              <a:rPr lang="en-US" sz="3000">
                <a:solidFill>
                  <a:srgbClr val="1A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The numeric keypad is located on the right side of the keyboard and allows fast numeric entry.</a:t>
            </a:r>
          </a:p>
          <a:p>
            <a:pPr algn="ctr">
              <a:lnSpc>
                <a:spcPts val="3900"/>
              </a:lnSpc>
              <a:spcBef>
                <a:spcPct val="0"/>
              </a:spcBef>
            </a:pPr>
            <a:r>
              <a:rPr lang="en-US" sz="3000">
                <a:solidFill>
                  <a:srgbClr val="1A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(e) Function Keys</a:t>
            </a:r>
          </a:p>
          <a:p>
            <a:pPr algn="ctr">
              <a:lnSpc>
                <a:spcPts val="3900"/>
              </a:lnSpc>
              <a:spcBef>
                <a:spcPct val="0"/>
              </a:spcBef>
            </a:pPr>
            <a:r>
              <a:rPr lang="en-US" sz="3000">
                <a:solidFill>
                  <a:srgbClr val="1A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Function keys (F1 to F12) are located at the top of the keyboard and perform special tasks depending on the software being used.</a:t>
            </a:r>
          </a:p>
          <a:p>
            <a:pPr algn="ctr">
              <a:lnSpc>
                <a:spcPts val="3900"/>
              </a:lnSpc>
              <a:spcBef>
                <a:spcPct val="0"/>
              </a:spcBef>
            </a:pPr>
            <a:r>
              <a:rPr lang="en-US" sz="3000">
                <a:solidFill>
                  <a:srgbClr val="1A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(f) Special Keys</a:t>
            </a:r>
          </a:p>
          <a:p>
            <a:pPr algn="ctr">
              <a:lnSpc>
                <a:spcPts val="3900"/>
              </a:lnSpc>
              <a:spcBef>
                <a:spcPct val="0"/>
              </a:spcBef>
            </a:pPr>
            <a:r>
              <a:rPr lang="en-US" sz="3000">
                <a:solidFill>
                  <a:srgbClr val="1A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Special keys include Enter, Shift, Ctrl, Alt, Esc, Tab, Caps Lock, Backspace, Spacebar, Insert, Delete, and Print Screen.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Input Devices in Computer Systems</dc:description>
  <dc:identifier>DAG_yS5Sszc</dc:identifier>
  <dcterms:modified xsi:type="dcterms:W3CDTF">2011-08-01T06:04:30Z</dcterms:modified>
  <cp:revision>1</cp:revision>
  <dc:title>Presentation - Input Devices in Computer Systems</dc:title>
</cp:coreProperties>
</file>